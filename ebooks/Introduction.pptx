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0" r:id="rId4"/>
    <p:sldId id="262" r:id="rId5"/>
    <p:sldId id="263" r:id="rId6"/>
    <p:sldId id="257" r:id="rId7"/>
    <p:sldId id="272" r:id="rId8"/>
    <p:sldId id="274" r:id="rId9"/>
    <p:sldId id="275" r:id="rId10"/>
    <p:sldId id="270" r:id="rId11"/>
    <p:sldId id="271" r:id="rId12"/>
    <p:sldId id="266" r:id="rId13"/>
    <p:sldId id="267" r:id="rId14"/>
    <p:sldId id="273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B2A66-E866-4DC5-AF1B-5CD305293375}" type="datetimeFigureOut">
              <a:rPr lang="en-IN" smtClean="0"/>
              <a:t>06-02-2016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1D4FF-93DC-4B60-B153-E77A69CB5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4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http://www.youtube.com/watch?v=eZfyWdHnzR0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71D4FF-93DC-4B60-B153-E77A69CB56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27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A5920-BB59-47F5-9144-912BA261942B}" type="datetimeFigureOut">
              <a:rPr lang="en-IN" smtClean="0"/>
              <a:pPr/>
              <a:t>06-02-2016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EB6D4-B669-4B04-98A6-559A2FF06CF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binc.scisjnu.ernet.i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hyperlink" Target="http://csirhrdg.nic.i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gate.iitb.ac.in/gate2013/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2162671"/>
          </a:xfrm>
        </p:spPr>
        <p:txBody>
          <a:bodyPr>
            <a:noAutofit/>
          </a:bodyPr>
          <a:lstStyle/>
          <a:p>
            <a:r>
              <a:rPr lang="en-AU" sz="6600" dirty="0" smtClean="0"/>
              <a:t>Basics of</a:t>
            </a:r>
            <a:r>
              <a:rPr lang="en-AU" sz="6600" dirty="0" smtClean="0"/>
              <a:t/>
            </a:r>
            <a:br>
              <a:rPr lang="en-AU" sz="6600" dirty="0" smtClean="0"/>
            </a:br>
            <a:r>
              <a:rPr lang="en-AU" sz="6600" dirty="0" smtClean="0"/>
              <a:t>Bioinformatics</a:t>
            </a:r>
            <a:endParaRPr lang="en-IN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80656"/>
            <a:ext cx="6400800" cy="1752600"/>
          </a:xfrm>
        </p:spPr>
        <p:txBody>
          <a:bodyPr>
            <a:normAutofit/>
          </a:bodyPr>
          <a:lstStyle/>
          <a:p>
            <a:r>
              <a:rPr lang="en-AU" sz="4400" dirty="0" smtClean="0"/>
              <a:t>Introduction</a:t>
            </a:r>
            <a:endParaRPr lang="en-IN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19256" cy="5904656"/>
          </a:xfrm>
        </p:spPr>
        <p:txBody>
          <a:bodyPr>
            <a:normAutofit/>
          </a:bodyPr>
          <a:lstStyle/>
          <a:p>
            <a:r>
              <a:rPr lang="en-AU" sz="4400" dirty="0" smtClean="0"/>
              <a:t>Introduce yourself</a:t>
            </a:r>
          </a:p>
          <a:p>
            <a:r>
              <a:rPr lang="en-AU" sz="4400" dirty="0" smtClean="0"/>
              <a:t>Course Overview and Assessment</a:t>
            </a:r>
          </a:p>
          <a:p>
            <a:r>
              <a:rPr lang="en-AU" sz="4400" dirty="0" smtClean="0"/>
              <a:t>Introduction to Bioinformatics</a:t>
            </a:r>
          </a:p>
          <a:p>
            <a:r>
              <a:rPr lang="en-AU" sz="4400" dirty="0" smtClean="0"/>
              <a:t>Careers and PhD options</a:t>
            </a:r>
          </a:p>
          <a:p>
            <a:r>
              <a:rPr lang="en-AU" sz="4400" dirty="0" smtClean="0"/>
              <a:t>Skills required </a:t>
            </a:r>
          </a:p>
          <a:p>
            <a:r>
              <a:rPr lang="en-AU" sz="4400" dirty="0" smtClean="0"/>
              <a:t>Salary statistics</a:t>
            </a:r>
          </a:p>
          <a:p>
            <a:r>
              <a:rPr lang="en-AU" sz="4400" dirty="0" smtClean="0"/>
              <a:t>Assignment</a:t>
            </a:r>
          </a:p>
          <a:p>
            <a:pPr>
              <a:buNone/>
            </a:pPr>
            <a:endParaRPr lang="en-AU" sz="4400" dirty="0" smtClean="0"/>
          </a:p>
          <a:p>
            <a:endParaRPr lang="en-AU" sz="4400" dirty="0"/>
          </a:p>
          <a:p>
            <a:endParaRPr lang="en-IN" sz="4400" dirty="0"/>
          </a:p>
        </p:txBody>
      </p:sp>
      <p:grpSp>
        <p:nvGrpSpPr>
          <p:cNvPr id="9" name="Group 8"/>
          <p:cNvGrpSpPr/>
          <p:nvPr/>
        </p:nvGrpSpPr>
        <p:grpSpPr>
          <a:xfrm>
            <a:off x="179512" y="188640"/>
            <a:ext cx="8964488" cy="6685711"/>
            <a:chOff x="179512" y="44624"/>
            <a:chExt cx="8964488" cy="6829727"/>
          </a:xfrm>
        </p:grpSpPr>
        <p:pic>
          <p:nvPicPr>
            <p:cNvPr id="5" name="Picture 4" descr="overviewImage.gif"/>
            <p:cNvPicPr>
              <a:picLocks noChangeAspect="1"/>
            </p:cNvPicPr>
            <p:nvPr/>
          </p:nvPicPr>
          <p:blipFill>
            <a:blip r:embed="rId2" cstate="print"/>
            <a:srcRect b="13401"/>
            <a:stretch>
              <a:fillRect/>
            </a:stretch>
          </p:blipFill>
          <p:spPr>
            <a:xfrm>
              <a:off x="395536" y="44624"/>
              <a:ext cx="8518725" cy="594928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79512" y="5910371"/>
              <a:ext cx="88569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400" b="1" dirty="0" smtClean="0">
                  <a:latin typeface="Bradley Hand ITC" pitchFamily="66" charset="0"/>
                </a:rPr>
                <a:t>“First, I want to give you an overview of what I will tell you over and over again during the entire presentation”</a:t>
              </a:r>
              <a:endParaRPr lang="en-IN" sz="2400" b="1" dirty="0">
                <a:latin typeface="Bradley Hand ITC" pitchFamily="66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24128" y="6597352"/>
              <a:ext cx="3419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 smtClean="0">
                  <a:latin typeface="Bradley Hand ITC" pitchFamily="66" charset="0"/>
                </a:rPr>
                <a:t>stevensonfinancialmarketing.files.wordpress.com</a:t>
              </a:r>
              <a:endParaRPr lang="en-IN" sz="1200" dirty="0">
                <a:latin typeface="Bradley Hand ITC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4824536" cy="1570186"/>
          </a:xfrm>
        </p:spPr>
        <p:txBody>
          <a:bodyPr>
            <a:normAutofit/>
          </a:bodyPr>
          <a:lstStyle/>
          <a:p>
            <a:r>
              <a:rPr lang="en-AU" sz="4800" dirty="0" smtClean="0"/>
              <a:t>Expected </a:t>
            </a:r>
            <a:br>
              <a:rPr lang="en-AU" sz="4800" dirty="0" smtClean="0"/>
            </a:br>
            <a:r>
              <a:rPr lang="en-AU" sz="4800" dirty="0" smtClean="0"/>
              <a:t>outcomes</a:t>
            </a:r>
            <a:endParaRPr lang="en-I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132856"/>
            <a:ext cx="8229600" cy="4525963"/>
          </a:xfrm>
        </p:spPr>
        <p:txBody>
          <a:bodyPr>
            <a:normAutofit/>
          </a:bodyPr>
          <a:lstStyle/>
          <a:p>
            <a:r>
              <a:rPr lang="en-AU" sz="3600" dirty="0" smtClean="0"/>
              <a:t>Appreciation of bioinformatics</a:t>
            </a:r>
          </a:p>
          <a:p>
            <a:r>
              <a:rPr lang="en-AU" sz="3600" dirty="0" smtClean="0"/>
              <a:t>Familiarity with available resources</a:t>
            </a:r>
          </a:p>
          <a:p>
            <a:r>
              <a:rPr lang="en-AU" sz="3600" dirty="0" smtClean="0"/>
              <a:t>Experience in implementing and using simple algorithms</a:t>
            </a:r>
            <a:endParaRPr lang="en-AU" sz="3600" dirty="0"/>
          </a:p>
          <a:p>
            <a:r>
              <a:rPr lang="en-AU" sz="3600" dirty="0" smtClean="0"/>
              <a:t>Current state of the art techniques in bioinformatics</a:t>
            </a:r>
          </a:p>
          <a:p>
            <a:r>
              <a:rPr lang="en-AU" sz="3600" dirty="0" smtClean="0"/>
              <a:t>Trained in a new computer language</a:t>
            </a:r>
            <a:endParaRPr lang="en-IN" sz="3600" dirty="0"/>
          </a:p>
        </p:txBody>
      </p:sp>
      <p:grpSp>
        <p:nvGrpSpPr>
          <p:cNvPr id="6" name="Group 5"/>
          <p:cNvGrpSpPr/>
          <p:nvPr/>
        </p:nvGrpSpPr>
        <p:grpSpPr>
          <a:xfrm>
            <a:off x="5724128" y="17329"/>
            <a:ext cx="3398024" cy="2578639"/>
            <a:chOff x="5724128" y="17329"/>
            <a:chExt cx="3398024" cy="2578639"/>
          </a:xfrm>
        </p:grpSpPr>
        <p:pic>
          <p:nvPicPr>
            <p:cNvPr id="6146" name="Picture 2" descr="http://www.nrepp.samhsa.gov/Courses/ProgramEvaluation/images/0406_0070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24128" y="17329"/>
              <a:ext cx="3384376" cy="2262189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7788132" y="2318969"/>
              <a:ext cx="1334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 smtClean="0">
                  <a:latin typeface="Bradley Hand ITC" pitchFamily="66" charset="0"/>
                </a:rPr>
                <a:t>nrepp.samhsa.gov</a:t>
              </a:r>
              <a:endParaRPr lang="en-IN" sz="1200" dirty="0">
                <a:latin typeface="Bradley Hand ITC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56" y="260648"/>
            <a:ext cx="5364088" cy="1354162"/>
          </a:xfrm>
        </p:spPr>
        <p:txBody>
          <a:bodyPr>
            <a:normAutofit/>
          </a:bodyPr>
          <a:lstStyle/>
          <a:p>
            <a:r>
              <a:rPr lang="en-AU" sz="4800" dirty="0" smtClean="0"/>
              <a:t>Brainstorming</a:t>
            </a:r>
            <a:endParaRPr lang="en-I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320480"/>
          </a:xfrm>
        </p:spPr>
        <p:txBody>
          <a:bodyPr>
            <a:normAutofit fontScale="92500" lnSpcReduction="10000"/>
          </a:bodyPr>
          <a:lstStyle/>
          <a:p>
            <a:r>
              <a:rPr lang="en-AU" sz="3600" dirty="0" smtClean="0"/>
              <a:t>In groups of two please discuss the</a:t>
            </a:r>
          </a:p>
          <a:p>
            <a:pPr>
              <a:buNone/>
            </a:pPr>
            <a:r>
              <a:rPr lang="en-AU" sz="3600" dirty="0" smtClean="0"/>
              <a:t>	 following:</a:t>
            </a:r>
          </a:p>
          <a:p>
            <a:pPr lvl="1"/>
            <a:r>
              <a:rPr lang="en-AU" sz="3200" dirty="0" smtClean="0"/>
              <a:t>Definition</a:t>
            </a:r>
          </a:p>
          <a:p>
            <a:pPr lvl="1"/>
            <a:r>
              <a:rPr lang="en-AU" sz="3200" dirty="0" smtClean="0"/>
              <a:t>What does bioinformatics has to do with biology?</a:t>
            </a:r>
          </a:p>
          <a:p>
            <a:pPr lvl="1"/>
            <a:r>
              <a:rPr lang="en-AU" sz="3200" dirty="0" smtClean="0"/>
              <a:t> What does bioinformatics has to do with CS?</a:t>
            </a:r>
          </a:p>
          <a:p>
            <a:pPr lvl="1"/>
            <a:r>
              <a:rPr lang="en-AU" sz="3200" dirty="0" smtClean="0"/>
              <a:t>What are the possible applications?</a:t>
            </a:r>
          </a:p>
          <a:p>
            <a:pPr lvl="1"/>
            <a:r>
              <a:rPr lang="en-AU" sz="3200" dirty="0" smtClean="0"/>
              <a:t>Any special tool you would like to learn</a:t>
            </a:r>
          </a:p>
          <a:p>
            <a:pPr lvl="1"/>
            <a:endParaRPr lang="en-IN" dirty="0"/>
          </a:p>
        </p:txBody>
      </p:sp>
      <p:pic>
        <p:nvPicPr>
          <p:cNvPr id="4098" name="Picture 2" descr="http://technostories.files.wordpress.com/2010/01/brainstorming_10_08_08_pc_pro_m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44904"/>
            <a:ext cx="2375984" cy="2375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1512168"/>
          </a:xfrm>
        </p:spPr>
        <p:txBody>
          <a:bodyPr>
            <a:noAutofit/>
          </a:bodyPr>
          <a:lstStyle/>
          <a:p>
            <a:pPr algn="l"/>
            <a:r>
              <a:rPr lang="en-AU" sz="3600" dirty="0" smtClean="0"/>
              <a:t>Bioinformatics? Application of techniques from computer science for biological investigation and discovery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184" y="3645024"/>
            <a:ext cx="8435280" cy="3185592"/>
          </a:xfrm>
        </p:spPr>
        <p:txBody>
          <a:bodyPr>
            <a:noAutofit/>
          </a:bodyPr>
          <a:lstStyle/>
          <a:p>
            <a:r>
              <a:rPr lang="en-AU" sz="3000" dirty="0" smtClean="0"/>
              <a:t>Sequence analysis and genome annotations</a:t>
            </a:r>
          </a:p>
          <a:p>
            <a:r>
              <a:rPr lang="en-AU" sz="3000" dirty="0" smtClean="0"/>
              <a:t>Prediction of protein structures</a:t>
            </a:r>
          </a:p>
          <a:p>
            <a:r>
              <a:rPr lang="en-AU" sz="3000" dirty="0" smtClean="0"/>
              <a:t>Comparative genomics</a:t>
            </a:r>
          </a:p>
          <a:p>
            <a:r>
              <a:rPr lang="en-AU" sz="3000" dirty="0" smtClean="0"/>
              <a:t>Molecular </a:t>
            </a:r>
            <a:r>
              <a:rPr lang="en-AU" sz="3000" dirty="0" err="1" smtClean="0"/>
              <a:t>modeling</a:t>
            </a:r>
            <a:endParaRPr lang="en-AU" sz="3000" dirty="0" smtClean="0"/>
          </a:p>
          <a:p>
            <a:r>
              <a:rPr lang="en-AU" sz="3000" dirty="0" smtClean="0"/>
              <a:t>Evolution, phylogeny and linkage</a:t>
            </a:r>
          </a:p>
          <a:p>
            <a:r>
              <a:rPr lang="en-AU" sz="3000" dirty="0" smtClean="0"/>
              <a:t>Drug discovery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11760" y="1556792"/>
            <a:ext cx="6549958" cy="2169765"/>
            <a:chOff x="2059595" y="1954932"/>
            <a:chExt cx="6549958" cy="2169765"/>
          </a:xfrm>
        </p:grpSpPr>
        <p:sp>
          <p:nvSpPr>
            <p:cNvPr id="4" name="Rectangle 3"/>
            <p:cNvSpPr/>
            <p:nvPr/>
          </p:nvSpPr>
          <p:spPr>
            <a:xfrm>
              <a:off x="2059595" y="1954932"/>
              <a:ext cx="5040000" cy="14401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003">
              <a:schemeClr val="dk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AU" sz="40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Computer Science</a:t>
              </a:r>
              <a:endParaRPr lang="en-IN" sz="4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68993" y="2684537"/>
              <a:ext cx="5040560" cy="14401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73413" y="2674798"/>
              <a:ext cx="3528392" cy="72008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AU" sz="4000" b="1" dirty="0">
                  <a:ln w="127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Bioinformatics</a:t>
              </a:r>
              <a:endParaRPr lang="en-IN" sz="4000" b="1" dirty="0">
                <a:ln w="12700">
                  <a:solidFill>
                    <a:schemeClr val="accent4">
                      <a:lumMod val="7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40825" y="3369186"/>
              <a:ext cx="1763623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AU" sz="4000" b="1" dirty="0">
                  <a:ln w="12700">
                    <a:solidFill>
                      <a:schemeClr val="bg2">
                        <a:lumMod val="2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rPr>
                <a:t>Biology</a:t>
              </a:r>
              <a:endParaRPr lang="en-IN" sz="4000" b="1" dirty="0">
                <a:ln w="12700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Bio in Bioinformatics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AU" dirty="0" smtClean="0"/>
              <a:t>Massive amount of data: too much for manual analysis. </a:t>
            </a:r>
          </a:p>
          <a:p>
            <a:pPr lvl="1"/>
            <a:r>
              <a:rPr lang="en-AU" dirty="0" smtClean="0"/>
              <a:t>Still a plenty of genomes need to be sequenced thus a way is needed to deal with “junk data”.</a:t>
            </a:r>
          </a:p>
          <a:p>
            <a:pPr lvl="1"/>
            <a:r>
              <a:rPr lang="en-AU" dirty="0" smtClean="0"/>
              <a:t>Next generation sequencing projects have resulted in huge amounts of raw data that must be stored, manipulated and </a:t>
            </a:r>
            <a:r>
              <a:rPr lang="en-AU" dirty="0" err="1" smtClean="0"/>
              <a:t>analyzed</a:t>
            </a:r>
            <a:r>
              <a:rPr lang="en-AU" dirty="0" smtClean="0"/>
              <a:t>.</a:t>
            </a:r>
          </a:p>
          <a:p>
            <a:pPr lvl="1"/>
            <a:r>
              <a:rPr lang="en-AU" dirty="0" smtClean="0"/>
              <a:t>Simulations of biological systems </a:t>
            </a:r>
          </a:p>
          <a:p>
            <a:pPr lvl="1"/>
            <a:r>
              <a:rPr lang="en-AU" dirty="0" smtClean="0"/>
              <a:t>Design and re- engineering of new biological entities</a:t>
            </a:r>
          </a:p>
          <a:p>
            <a:pPr lvl="1"/>
            <a:endParaRPr lang="en-AU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800" dirty="0" smtClean="0"/>
              <a:t>Informatics</a:t>
            </a:r>
            <a:r>
              <a:rPr lang="en-AU" dirty="0" smtClean="0"/>
              <a:t> in Bioinformatics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AU" sz="3600" dirty="0" smtClean="0"/>
              <a:t>Provides computer science with new challenges with clear bio-medical significance</a:t>
            </a:r>
          </a:p>
          <a:p>
            <a:r>
              <a:rPr lang="en-AU" sz="3600" dirty="0" smtClean="0"/>
              <a:t>Complex and large datasets are sometimes very noisy with hidden patterns</a:t>
            </a:r>
          </a:p>
          <a:p>
            <a:r>
              <a:rPr lang="en-AU" sz="3600" dirty="0" smtClean="0"/>
              <a:t>Biological solutions be used to inspire new computational tools and methods</a:t>
            </a:r>
          </a:p>
          <a:p>
            <a:pPr lvl="1"/>
            <a:r>
              <a:rPr lang="en-AU" sz="3200" dirty="0" smtClean="0"/>
              <a:t>Neural networks, Simulated Annealing ...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Interesting quotes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r>
              <a:rPr lang="en-AU" dirty="0" smtClean="0"/>
              <a:t>What computer science is to molecular biology is like what mathematics has been to physics ...</a:t>
            </a:r>
          </a:p>
          <a:p>
            <a:pPr algn="r">
              <a:buFontTx/>
              <a:buChar char="-"/>
            </a:pPr>
            <a:r>
              <a:rPr lang="en-AU" dirty="0" smtClean="0"/>
              <a:t>Larry Hunter, ISMB’94</a:t>
            </a:r>
          </a:p>
          <a:p>
            <a:r>
              <a:rPr lang="en-AU" dirty="0" smtClean="0"/>
              <a:t>Molecular biology is becoming an information science</a:t>
            </a:r>
          </a:p>
          <a:p>
            <a:pPr marL="342900" lvl="1" indent="-342900" algn="r">
              <a:buFontTx/>
              <a:buChar char="-"/>
            </a:pPr>
            <a:r>
              <a:rPr lang="en-AU" sz="3200" dirty="0" err="1" smtClean="0"/>
              <a:t>Leory</a:t>
            </a:r>
            <a:r>
              <a:rPr lang="en-AU" sz="3200" dirty="0" smtClean="0"/>
              <a:t> Hood, RECOMB’00</a:t>
            </a:r>
          </a:p>
          <a:p>
            <a:pPr lvl="1">
              <a:buNone/>
            </a:pPr>
            <a:endParaRPr lang="en-AU" sz="32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Introduction to Biology</a:t>
            </a:r>
            <a:endParaRPr lang="en-IN" dirty="0"/>
          </a:p>
        </p:txBody>
      </p:sp>
      <p:grpSp>
        <p:nvGrpSpPr>
          <p:cNvPr id="22" name="Group 21"/>
          <p:cNvGrpSpPr/>
          <p:nvPr/>
        </p:nvGrpSpPr>
        <p:grpSpPr>
          <a:xfrm>
            <a:off x="35496" y="1484806"/>
            <a:ext cx="9001000" cy="4896522"/>
            <a:chOff x="35496" y="1556814"/>
            <a:chExt cx="9001000" cy="4896522"/>
          </a:xfrm>
        </p:grpSpPr>
        <p:pic>
          <p:nvPicPr>
            <p:cNvPr id="1032" name="Picture 8" descr="http://upload.wikimedia.org/wikipedia/commons/e/e6/Spombe_Pop2p_protein_structure_rainbow.png"/>
            <p:cNvPicPr>
              <a:picLocks noChangeAspect="1" noChangeArrowheads="1"/>
            </p:cNvPicPr>
            <p:nvPr/>
          </p:nvPicPr>
          <p:blipFill>
            <a:blip r:embed="rId3" cstate="print"/>
            <a:srcRect l="14324" t="3847" r="1323" b="3818"/>
            <a:stretch>
              <a:fillRect/>
            </a:stretch>
          </p:blipFill>
          <p:spPr bwMode="auto">
            <a:xfrm>
              <a:off x="2483768" y="2348880"/>
              <a:ext cx="2880000" cy="2608296"/>
            </a:xfrm>
            <a:prstGeom prst="rect">
              <a:avLst/>
            </a:prstGeom>
            <a:noFill/>
          </p:spPr>
        </p:pic>
        <p:pic>
          <p:nvPicPr>
            <p:cNvPr id="1034" name="Picture 10" descr="http://www.astrochem.org/sci_img/dna.jpg"/>
            <p:cNvPicPr>
              <a:picLocks noChangeAspect="1" noChangeArrowheads="1"/>
            </p:cNvPicPr>
            <p:nvPr/>
          </p:nvPicPr>
          <p:blipFill>
            <a:blip r:embed="rId4" cstate="print"/>
            <a:srcRect l="2512" r="44745"/>
            <a:stretch>
              <a:fillRect/>
            </a:stretch>
          </p:blipFill>
          <p:spPr bwMode="auto">
            <a:xfrm>
              <a:off x="35496" y="1844824"/>
              <a:ext cx="1512168" cy="3743325"/>
            </a:xfrm>
            <a:prstGeom prst="rect">
              <a:avLst/>
            </a:prstGeom>
            <a:noFill/>
          </p:spPr>
        </p:pic>
        <p:pic>
          <p:nvPicPr>
            <p:cNvPr id="1036" name="Picture 12" descr="http://www.biology.ed.ac.uk/research/groups/obbard/photo_gallery/flies/Drosophila_funebris_lab.jpg"/>
            <p:cNvPicPr>
              <a:picLocks noChangeAspect="1" noChangeArrowheads="1"/>
            </p:cNvPicPr>
            <p:nvPr/>
          </p:nvPicPr>
          <p:blipFill>
            <a:blip r:embed="rId5" cstate="print"/>
            <a:srcRect l="8969" t="26931" r="3900" b="11513"/>
            <a:stretch>
              <a:fillRect/>
            </a:stretch>
          </p:blipFill>
          <p:spPr bwMode="auto">
            <a:xfrm>
              <a:off x="5688496" y="1556814"/>
              <a:ext cx="3348000" cy="1575537"/>
            </a:xfrm>
            <a:prstGeom prst="rect">
              <a:avLst/>
            </a:prstGeom>
            <a:noFill/>
          </p:spPr>
        </p:pic>
        <p:cxnSp>
          <p:nvCxnSpPr>
            <p:cNvPr id="12" name="Straight Arrow Connector 11"/>
            <p:cNvCxnSpPr/>
            <p:nvPr/>
          </p:nvCxnSpPr>
          <p:spPr>
            <a:xfrm>
              <a:off x="1691680" y="3501008"/>
              <a:ext cx="720080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4932040" y="2636912"/>
              <a:ext cx="576064" cy="4320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20072" y="4581128"/>
              <a:ext cx="504056" cy="4320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07504" y="5930116"/>
              <a:ext cx="16561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 smtClean="0"/>
                <a:t>Genotype</a:t>
              </a:r>
              <a:endParaRPr lang="en-IN" sz="28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59832" y="5930116"/>
              <a:ext cx="16561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 smtClean="0"/>
                <a:t>Protein</a:t>
              </a:r>
              <a:endParaRPr lang="en-IN" sz="2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4208" y="5930116"/>
              <a:ext cx="1800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 smtClean="0"/>
                <a:t>Phenotype</a:t>
              </a:r>
              <a:endParaRPr lang="en-IN" sz="2800" dirty="0"/>
            </a:p>
          </p:txBody>
        </p:sp>
        <p:pic>
          <p:nvPicPr>
            <p:cNvPr id="1040" name="Picture 16" descr="http://www.corleydogtraining.co.uk/Dog1.jpg"/>
            <p:cNvPicPr>
              <a:picLocks noChangeAspect="1" noChangeArrowheads="1"/>
            </p:cNvPicPr>
            <p:nvPr/>
          </p:nvPicPr>
          <p:blipFill>
            <a:blip r:embed="rId6" cstate="print"/>
            <a:srcRect l="4170" t="6631" r="7523" b="2738"/>
            <a:stretch>
              <a:fillRect/>
            </a:stretch>
          </p:blipFill>
          <p:spPr bwMode="auto">
            <a:xfrm>
              <a:off x="6156176" y="3717032"/>
              <a:ext cx="2232000" cy="2232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6" y="71414"/>
            <a:ext cx="4143404" cy="11430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PhD options</a:t>
            </a:r>
            <a:endParaRPr lang="en-I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rmAutofit lnSpcReduction="10000"/>
          </a:bodyPr>
          <a:lstStyle/>
          <a:p>
            <a:r>
              <a:rPr lang="en-US" sz="4000" dirty="0" smtClean="0"/>
              <a:t>BINC</a:t>
            </a:r>
          </a:p>
          <a:p>
            <a:pPr lvl="1"/>
            <a:r>
              <a:rPr lang="en-IN" sz="3600" dirty="0" smtClean="0"/>
              <a:t>Bachelor &amp; Post graduate  students with degrees in Science</a:t>
            </a:r>
          </a:p>
          <a:p>
            <a:pPr lvl="1"/>
            <a:r>
              <a:rPr lang="en-IN" sz="3600" dirty="0" smtClean="0"/>
              <a:t>All the successful candidates will be awarded with a Research fellowship if they are interested in pursuing PhD in India.</a:t>
            </a:r>
          </a:p>
          <a:p>
            <a:pPr lvl="1"/>
            <a:r>
              <a:rPr lang="en-US" sz="3600" dirty="0" smtClean="0"/>
              <a:t>Advertisement (usually in November)</a:t>
            </a:r>
          </a:p>
          <a:p>
            <a:pPr lvl="1"/>
            <a:r>
              <a:rPr lang="en-US" sz="3600" dirty="0" smtClean="0">
                <a:hlinkClick r:id="rId2"/>
              </a:rPr>
              <a:t>http://binc.scisjnu.ernet.in/</a:t>
            </a:r>
            <a:endParaRPr lang="en-US" sz="3600" dirty="0" smtClean="0"/>
          </a:p>
          <a:p>
            <a:pPr lvl="1"/>
            <a:endParaRPr lang="en-US" sz="3600" dirty="0"/>
          </a:p>
        </p:txBody>
      </p:sp>
      <p:sp>
        <p:nvSpPr>
          <p:cNvPr id="10242" name="AutoShape 2" descr="http://2.bp.blogspot.com/_cFzOk4PW8uw/SSZMkVJ8WzI/AAAAAAAAACw/Y-cACDRDid8/s320/BINC.png"/>
          <p:cNvSpPr>
            <a:spLocks noChangeAspect="1" noChangeArrowheads="1"/>
          </p:cNvSpPr>
          <p:nvPr/>
        </p:nvSpPr>
        <p:spPr bwMode="auto">
          <a:xfrm>
            <a:off x="155575" y="-288925"/>
            <a:ext cx="3048000" cy="609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44" name="AutoShape 4" descr="http://2.bp.blogspot.com/_cFzOk4PW8uw/SSZMkVJ8WzI/AAAAAAAAACw/Y-cACDRDid8/s320/BINC.png"/>
          <p:cNvSpPr>
            <a:spLocks noChangeAspect="1" noChangeArrowheads="1"/>
          </p:cNvSpPr>
          <p:nvPr/>
        </p:nvSpPr>
        <p:spPr bwMode="auto">
          <a:xfrm>
            <a:off x="155575" y="-288925"/>
            <a:ext cx="3048000" cy="609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46" name="AutoShape 6" descr="http://2.bp.blogspot.com/_cFzOk4PW8uw/SSZMkVJ8WzI/AAAAAAAAACw/Y-cACDRDid8/s1600/BINC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 descr="BIN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8032" y="-24"/>
            <a:ext cx="5436000" cy="1090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74638"/>
            <a:ext cx="4972056" cy="1143000"/>
          </a:xfrm>
        </p:spPr>
        <p:txBody>
          <a:bodyPr/>
          <a:lstStyle/>
          <a:p>
            <a:r>
              <a:rPr lang="en-US" dirty="0" smtClean="0"/>
              <a:t>CSIR/DBT NET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1514" y="1142984"/>
            <a:ext cx="4686304" cy="857256"/>
          </a:xfrm>
        </p:spPr>
        <p:txBody>
          <a:bodyPr/>
          <a:lstStyle/>
          <a:p>
            <a:r>
              <a:rPr lang="en-IN" dirty="0" smtClean="0">
                <a:hlinkClick r:id="rId2"/>
              </a:rPr>
              <a:t>http://csirhrdg.nic.in/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16386" name="AutoShape 2" descr="https://encrypted-tbn1.gstatic.com/images?q=tbn:ANd9GcTzFEo4dK91BQJVIhRnnHW1SVWYnHbMT-yh-ZZHPBafw_z-V3Cvjt6dHNA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 descr="CSIR-LOGO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72265" y="142852"/>
            <a:ext cx="1852699" cy="1868400"/>
          </a:xfrm>
          <a:prstGeom prst="rect">
            <a:avLst/>
          </a:prstGeom>
        </p:spPr>
      </p:pic>
      <p:sp>
        <p:nvSpPr>
          <p:cNvPr id="16388" name="AutoShape 4" descr="http://www.gate.iitb.ac.in/gate2013/wp-content/uploads/2012/07/200px-IIT_Bombay_Logo.png"/>
          <p:cNvSpPr>
            <a:spLocks noChangeAspect="1" noChangeArrowheads="1"/>
          </p:cNvSpPr>
          <p:nvPr/>
        </p:nvSpPr>
        <p:spPr bwMode="auto">
          <a:xfrm>
            <a:off x="155575" y="-457200"/>
            <a:ext cx="952500" cy="9525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200px-IIT_Bombay_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72265" y="2214554"/>
            <a:ext cx="1905000" cy="1866900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28596" y="2500306"/>
            <a:ext cx="45720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GATE</a:t>
            </a:r>
            <a:endParaRPr kumimoji="0" lang="en-IN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609600" y="3357562"/>
            <a:ext cx="4686304" cy="132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3200" dirty="0">
                <a:hlinkClick r:id="rId5"/>
              </a:rPr>
              <a:t>http://www.gate.iitb.ac.in/gate2013</a:t>
            </a:r>
            <a:r>
              <a:rPr lang="en-IN" sz="3200" dirty="0" smtClean="0">
                <a:hlinkClick r:id="rId5"/>
              </a:rPr>
              <a:t>/</a:t>
            </a:r>
            <a:endParaRPr lang="en-IN" sz="3200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71472" y="4572008"/>
            <a:ext cx="7715304" cy="1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Other way is to be Research Associate in a lab you want to work or PhD exams </a:t>
            </a:r>
            <a:endParaRPr kumimoji="0" lang="en-IN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71414"/>
            <a:ext cx="8229600" cy="1143000"/>
          </a:xfrm>
        </p:spPr>
        <p:txBody>
          <a:bodyPr/>
          <a:lstStyle/>
          <a:p>
            <a:r>
              <a:rPr lang="en-US" dirty="0" smtClean="0"/>
              <a:t>PhD abroad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5900750" cy="535785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 smtClean="0"/>
              <a:t>In Australia you need</a:t>
            </a:r>
          </a:p>
          <a:p>
            <a:pPr lvl="1"/>
            <a:r>
              <a:rPr lang="en-US" sz="3200" dirty="0" smtClean="0"/>
              <a:t>IELTS </a:t>
            </a:r>
            <a:r>
              <a:rPr lang="en-US" sz="3200" dirty="0" err="1" smtClean="0"/>
              <a:t>bandscore</a:t>
            </a:r>
            <a:r>
              <a:rPr lang="en-US" sz="3200" dirty="0" smtClean="0"/>
              <a:t> 7 in each out of 9</a:t>
            </a:r>
          </a:p>
          <a:p>
            <a:pPr lvl="1"/>
            <a:r>
              <a:rPr lang="en-US" sz="3200" dirty="0" smtClean="0"/>
              <a:t>Research proposal</a:t>
            </a:r>
          </a:p>
          <a:p>
            <a:pPr lvl="1"/>
            <a:r>
              <a:rPr lang="en-US" sz="3200" dirty="0" smtClean="0"/>
              <a:t>Publications (at least 1)</a:t>
            </a:r>
            <a:endParaRPr lang="en-US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600" dirty="0"/>
              <a:t>In USA you need</a:t>
            </a:r>
          </a:p>
          <a:p>
            <a:pPr lvl="1"/>
            <a:r>
              <a:rPr lang="en-US" sz="3200" dirty="0" smtClean="0"/>
              <a:t>TOFEL and GRE score </a:t>
            </a:r>
          </a:p>
          <a:p>
            <a:pPr lvl="1"/>
            <a:r>
              <a:rPr lang="en-US" sz="3200" dirty="0" smtClean="0"/>
              <a:t>Research proposal</a:t>
            </a:r>
          </a:p>
          <a:p>
            <a:pPr lvl="1"/>
            <a:r>
              <a:rPr lang="en-US" sz="3200" dirty="0" smtClean="0"/>
              <a:t>Publications will help</a:t>
            </a:r>
          </a:p>
          <a:p>
            <a:pPr lvl="1"/>
            <a:r>
              <a:rPr lang="en-US" sz="3200" dirty="0" smtClean="0"/>
              <a:t>Statement of purpose </a:t>
            </a:r>
          </a:p>
          <a:p>
            <a:pPr lvl="1"/>
            <a:endParaRPr lang="en-US" dirty="0"/>
          </a:p>
        </p:txBody>
      </p:sp>
      <p:pic>
        <p:nvPicPr>
          <p:cNvPr id="4" name="Picture 3" descr="australian_flag_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72264" y="1342124"/>
            <a:ext cx="2321204" cy="1944000"/>
          </a:xfrm>
          <a:prstGeom prst="rect">
            <a:avLst/>
          </a:prstGeom>
        </p:spPr>
      </p:pic>
      <p:pic>
        <p:nvPicPr>
          <p:cNvPr id="5" name="Picture 4" descr="usaFal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72264" y="3600465"/>
            <a:ext cx="2314575" cy="1971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 dirty="0" smtClean="0"/>
              <a:t>Career Opportunities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451769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Sequence assembly and analysis</a:t>
            </a:r>
          </a:p>
          <a:p>
            <a:r>
              <a:rPr lang="en-US" dirty="0" smtClean="0"/>
              <a:t>Database design and maintenance</a:t>
            </a:r>
          </a:p>
          <a:p>
            <a:r>
              <a:rPr lang="en-US" dirty="0" smtClean="0"/>
              <a:t>Novel algorithms and tool development</a:t>
            </a:r>
          </a:p>
          <a:p>
            <a:r>
              <a:rPr lang="en-US" dirty="0" smtClean="0"/>
              <a:t>Data Mining</a:t>
            </a:r>
          </a:p>
          <a:p>
            <a:r>
              <a:rPr lang="en-US" dirty="0" smtClean="0"/>
              <a:t>Drug Discovery</a:t>
            </a:r>
          </a:p>
          <a:p>
            <a:r>
              <a:rPr lang="en-US" dirty="0" smtClean="0"/>
              <a:t>Machine learning</a:t>
            </a:r>
          </a:p>
          <a:p>
            <a:r>
              <a:rPr lang="en-US" dirty="0" smtClean="0"/>
              <a:t>System Biology</a:t>
            </a:r>
          </a:p>
          <a:p>
            <a:r>
              <a:rPr lang="en-US" dirty="0" smtClean="0"/>
              <a:t>List goes on …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5517232"/>
            <a:ext cx="8643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Wipro, Reliance, Satyam, TCS and companies like </a:t>
            </a:r>
            <a:r>
              <a:rPr lang="en-IN" sz="2400" dirty="0" err="1" smtClean="0"/>
              <a:t>Accelrys</a:t>
            </a:r>
            <a:r>
              <a:rPr lang="en-IN" sz="2400" dirty="0" smtClean="0"/>
              <a:t> and IBM Life Sciences and </a:t>
            </a:r>
            <a:r>
              <a:rPr lang="en-IN" sz="2400" dirty="0" err="1" smtClean="0"/>
              <a:t>Tessella</a:t>
            </a:r>
            <a:r>
              <a:rPr lang="en-IN" sz="2400" dirty="0" smtClean="0"/>
              <a:t> offer good employments to the bioinformatics candidates.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Commercial sector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/>
          <a:lstStyle/>
          <a:p>
            <a:r>
              <a:rPr lang="en-AU" dirty="0" smtClean="0"/>
              <a:t>Big </a:t>
            </a:r>
            <a:r>
              <a:rPr lang="en-AU" dirty="0" err="1" smtClean="0"/>
              <a:t>Pharma</a:t>
            </a:r>
            <a:r>
              <a:rPr lang="en-AU" dirty="0" smtClean="0"/>
              <a:t> –Accept PhD and MSc entry. Normally assigned to projects and work within  defined teams. Defined career structure (group leaders, project managers etc)</a:t>
            </a:r>
          </a:p>
          <a:p>
            <a:r>
              <a:rPr lang="en-AU" dirty="0" smtClean="0"/>
              <a:t>Spin-out/Small Biotech – Accept PhD and MSc</a:t>
            </a:r>
          </a:p>
          <a:p>
            <a:pPr marL="342900" lvl="1" indent="-342900">
              <a:buNone/>
            </a:pPr>
            <a:r>
              <a:rPr lang="en-AU" sz="3200" dirty="0" smtClean="0"/>
              <a:t>    entry. However more freedom and variety. A degree of ‘maintenance’ work is to be expected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AU" sz="3200" dirty="0" smtClean="0"/>
              <a:t>IT Giants – Accept PhD and MSc entry. Excellent coding skills required. </a:t>
            </a:r>
            <a:endParaRPr lang="en-IN" sz="32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31762"/>
            <a:ext cx="7000924" cy="1011222"/>
          </a:xfrm>
        </p:spPr>
        <p:txBody>
          <a:bodyPr/>
          <a:lstStyle/>
          <a:p>
            <a:r>
              <a:rPr lang="en-US" dirty="0" smtClean="0"/>
              <a:t>Salary statistics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401080" cy="5429288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According to the U.S. Bureau </a:t>
            </a:r>
            <a:endParaRPr lang="en-IN" dirty="0" smtClean="0"/>
          </a:p>
          <a:p>
            <a:pPr algn="just">
              <a:buNone/>
            </a:pPr>
            <a:r>
              <a:rPr lang="en-IN" dirty="0"/>
              <a:t>	</a:t>
            </a:r>
            <a:r>
              <a:rPr lang="en-IN" dirty="0" smtClean="0"/>
              <a:t>of </a:t>
            </a:r>
            <a:r>
              <a:rPr lang="en-IN" dirty="0" err="1"/>
              <a:t>Labor</a:t>
            </a:r>
            <a:r>
              <a:rPr lang="en-IN" dirty="0"/>
              <a:t> Statistics (BLS), the </a:t>
            </a:r>
            <a:endParaRPr lang="en-IN" dirty="0" smtClean="0"/>
          </a:p>
          <a:p>
            <a:pPr algn="just">
              <a:buNone/>
            </a:pPr>
            <a:r>
              <a:rPr lang="en-IN" dirty="0"/>
              <a:t>	</a:t>
            </a:r>
            <a:r>
              <a:rPr lang="en-IN" dirty="0" smtClean="0"/>
              <a:t>median </a:t>
            </a:r>
            <a:r>
              <a:rPr lang="en-IN" dirty="0"/>
              <a:t>annual salary </a:t>
            </a:r>
            <a:r>
              <a:rPr lang="en-IN" dirty="0" smtClean="0"/>
              <a:t>for</a:t>
            </a:r>
          </a:p>
          <a:p>
            <a:pPr algn="just">
              <a:buNone/>
            </a:pPr>
            <a:r>
              <a:rPr lang="en-IN" dirty="0"/>
              <a:t>	</a:t>
            </a:r>
            <a:r>
              <a:rPr lang="en-IN" dirty="0" smtClean="0"/>
              <a:t> </a:t>
            </a:r>
            <a:r>
              <a:rPr lang="en-IN" dirty="0"/>
              <a:t>biological scientists, including bioinformatics scientists, was about $71,000 in 2011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According </a:t>
            </a:r>
            <a:r>
              <a:rPr lang="en-IN" dirty="0"/>
              <a:t>to </a:t>
            </a:r>
            <a:r>
              <a:rPr lang="en-IN" i="1" dirty="0"/>
              <a:t>PayScale.com</a:t>
            </a:r>
            <a:r>
              <a:rPr lang="en-IN" dirty="0"/>
              <a:t>, however, the median salary for biotechnology research scientists with bioinformatics knowledge was much higher, Rs. 1,500,000 per year as of March 2013.</a:t>
            </a:r>
          </a:p>
        </p:txBody>
      </p:sp>
      <p:pic>
        <p:nvPicPr>
          <p:cNvPr id="4" name="Picture 3" descr="Mortician-Salary-Pa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3466" y="0"/>
            <a:ext cx="2960534" cy="295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58082" y="2928934"/>
            <a:ext cx="15135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>
                <a:latin typeface="Bradley Hand ITC" pitchFamily="66" charset="0"/>
              </a:rPr>
              <a:t>morticianresource.com</a:t>
            </a:r>
            <a:endParaRPr lang="en-IN" sz="1100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4972056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Essential skills for a </a:t>
            </a:r>
            <a:r>
              <a:rPr lang="en-US" dirty="0" err="1" smtClean="0"/>
              <a:t>bioinformaticist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xpertise in data mining </a:t>
            </a:r>
          </a:p>
          <a:p>
            <a:r>
              <a:rPr lang="en-US" dirty="0" smtClean="0"/>
              <a:t>Good data visualization skills</a:t>
            </a:r>
          </a:p>
          <a:p>
            <a:r>
              <a:rPr lang="en-US" dirty="0" smtClean="0"/>
              <a:t>Computer languages</a:t>
            </a:r>
          </a:p>
          <a:p>
            <a:r>
              <a:rPr lang="en-US" dirty="0" smtClean="0"/>
              <a:t>Working knowledge of biology</a:t>
            </a:r>
          </a:p>
          <a:p>
            <a:r>
              <a:rPr lang="en-US" dirty="0" smtClean="0"/>
              <a:t>Bioinformatics resources</a:t>
            </a:r>
          </a:p>
          <a:p>
            <a:r>
              <a:rPr lang="en-US" dirty="0" smtClean="0"/>
              <a:t>Bioinformatics tools</a:t>
            </a:r>
          </a:p>
          <a:p>
            <a:r>
              <a:rPr lang="en-US" dirty="0" smtClean="0"/>
              <a:t>Multitasking </a:t>
            </a:r>
          </a:p>
          <a:p>
            <a:r>
              <a:rPr lang="en-US" dirty="0" smtClean="0"/>
              <a:t>Communicative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4" name="Picture 3" descr="dataMin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39531" y="16965"/>
            <a:ext cx="2604501" cy="1800000"/>
          </a:xfrm>
          <a:prstGeom prst="rect">
            <a:avLst/>
          </a:prstGeom>
        </p:spPr>
      </p:pic>
      <p:pic>
        <p:nvPicPr>
          <p:cNvPr id="5" name="Picture 4" descr="BricsVisualization.jpg"/>
          <p:cNvPicPr>
            <a:picLocks noChangeAspect="1"/>
          </p:cNvPicPr>
          <p:nvPr/>
        </p:nvPicPr>
        <p:blipFill>
          <a:blip r:embed="rId3" cstate="print"/>
          <a:srcRect l="21875" t="24904" r="8593" b="23649"/>
          <a:stretch>
            <a:fillRect/>
          </a:stretch>
        </p:blipFill>
        <p:spPr>
          <a:xfrm>
            <a:off x="6018146" y="1714488"/>
            <a:ext cx="3125854" cy="1440000"/>
          </a:xfrm>
          <a:prstGeom prst="rect">
            <a:avLst/>
          </a:prstGeom>
        </p:spPr>
      </p:pic>
      <p:pic>
        <p:nvPicPr>
          <p:cNvPr id="6" name="Picture 5" descr="perl_market_share.gif"/>
          <p:cNvPicPr>
            <a:picLocks noChangeAspect="1"/>
          </p:cNvPicPr>
          <p:nvPr/>
        </p:nvPicPr>
        <p:blipFill>
          <a:blip r:embed="rId4" cstate="print"/>
          <a:srcRect l="6288" t="4081" r="1687" b="10204"/>
          <a:stretch>
            <a:fillRect/>
          </a:stretch>
        </p:blipFill>
        <p:spPr>
          <a:xfrm>
            <a:off x="6572571" y="3200636"/>
            <a:ext cx="2571429" cy="1800000"/>
          </a:xfrm>
          <a:prstGeom prst="rect">
            <a:avLst/>
          </a:prstGeom>
        </p:spPr>
      </p:pic>
      <p:pic>
        <p:nvPicPr>
          <p:cNvPr id="7" name="Picture 6" descr="BioinformaticsResources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93522" y="5000636"/>
            <a:ext cx="2750510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542</Words>
  <Application>Microsoft Office PowerPoint</Application>
  <PresentationFormat>On-screen Show (4:3)</PresentationFormat>
  <Paragraphs>113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Bradley Hand ITC</vt:lpstr>
      <vt:lpstr>Calibri</vt:lpstr>
      <vt:lpstr>Office Theme</vt:lpstr>
      <vt:lpstr>Basics of Bioinformatics</vt:lpstr>
      <vt:lpstr>PowerPoint Presentation</vt:lpstr>
      <vt:lpstr>Expected  outcomes</vt:lpstr>
      <vt:lpstr>Brainstorming</vt:lpstr>
      <vt:lpstr>Bioinformatics? Application of techniques from computer science for biological investigation and discovery</vt:lpstr>
      <vt:lpstr>Bio in Bioinformatics</vt:lpstr>
      <vt:lpstr>Informatics in Bioinformatics</vt:lpstr>
      <vt:lpstr>Interesting quotes</vt:lpstr>
      <vt:lpstr>Introduction to Biology</vt:lpstr>
      <vt:lpstr>PhD options</vt:lpstr>
      <vt:lpstr>CSIR/DBT NET</vt:lpstr>
      <vt:lpstr>PhD abroad</vt:lpstr>
      <vt:lpstr>Career Opportunities</vt:lpstr>
      <vt:lpstr>Commercial sector</vt:lpstr>
      <vt:lpstr>Salary statistics</vt:lpstr>
      <vt:lpstr>Essential skills for a bioinformaticist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 409 Bioinformatics</dc:title>
  <dc:creator>Varun</dc:creator>
  <cp:lastModifiedBy>Varun</cp:lastModifiedBy>
  <cp:revision>228</cp:revision>
  <dcterms:created xsi:type="dcterms:W3CDTF">2013-07-22T04:04:14Z</dcterms:created>
  <dcterms:modified xsi:type="dcterms:W3CDTF">2016-02-06T06:00:51Z</dcterms:modified>
</cp:coreProperties>
</file>