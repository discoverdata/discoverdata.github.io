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73" r:id="rId2"/>
    <p:sldId id="274" r:id="rId3"/>
    <p:sldId id="257" r:id="rId4"/>
    <p:sldId id="258" r:id="rId5"/>
    <p:sldId id="259" r:id="rId6"/>
    <p:sldId id="262" r:id="rId7"/>
    <p:sldId id="275" r:id="rId8"/>
    <p:sldId id="276" r:id="rId9"/>
    <p:sldId id="264" r:id="rId10"/>
    <p:sldId id="277" r:id="rId11"/>
    <p:sldId id="278" r:id="rId12"/>
    <p:sldId id="279" r:id="rId13"/>
    <p:sldId id="280" r:id="rId14"/>
    <p:sldId id="265" r:id="rId15"/>
    <p:sldId id="272" r:id="rId16"/>
    <p:sldId id="266" r:id="rId17"/>
    <p:sldId id="268" r:id="rId18"/>
    <p:sldId id="281" r:id="rId19"/>
    <p:sldId id="269" r:id="rId20"/>
    <p:sldId id="282" r:id="rId21"/>
    <p:sldId id="283" r:id="rId22"/>
    <p:sldId id="260" r:id="rId23"/>
    <p:sldId id="271" r:id="rId24"/>
  </p:sldIdLst>
  <p:sldSz cx="9144000" cy="6858000" type="screen4x3"/>
  <p:notesSz cx="6858000" cy="9144000"/>
  <p:defaultTextStyle>
    <a:defPPr>
      <a:defRPr lang="en-IN"/>
    </a:defPPr>
    <a:lvl1pPr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1pPr>
    <a:lvl2pPr marL="411163" indent="46038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2pPr>
    <a:lvl3pPr marL="823913" indent="90488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3pPr>
    <a:lvl4pPr marL="1236663" indent="134938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4pPr>
    <a:lvl5pPr marL="1649413" indent="179388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3366CC"/>
    <a:srgbClr val="336699"/>
    <a:srgbClr val="006699"/>
    <a:srgbClr val="3399FF"/>
    <a:srgbClr val="33CCFF"/>
    <a:srgbClr val="003366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18" autoAdjust="0"/>
    <p:restoredTop sz="90929"/>
  </p:normalViewPr>
  <p:slideViewPr>
    <p:cSldViewPr>
      <p:cViewPr varScale="1">
        <p:scale>
          <a:sx n="68" d="100"/>
          <a:sy n="68" d="100"/>
        </p:scale>
        <p:origin x="1350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95045-AB45-4136-B151-9D54D81C5478}" type="datetimeFigureOut">
              <a:rPr lang="en-IN" smtClean="0"/>
              <a:pPr/>
              <a:t>07-01-2016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4AFEA6-53A9-4C4F-A795-1FD586CA0D4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855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zh-CN" altLang="en-US"/>
              <a:t>Francis Ouellette</a:t>
            </a: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zh-CN" altLang="en-US"/>
              <a:t>August 3rd, 1999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zh-CN" altLang="en-US"/>
              <a:t>Lecture 2.0</a:t>
            </a: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67978E-D254-42A8-B89D-C958FD557BD2}" type="slidenum">
              <a:rPr lang="zh-CN" altLang="en-US"/>
              <a:pPr/>
              <a:t>7</a:t>
            </a:fld>
            <a:endParaRPr lang="en-US" altLang="zh-CN"/>
          </a:p>
        </p:txBody>
      </p:sp>
      <p:sp>
        <p:nvSpPr>
          <p:cNvPr id="393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3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3869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zh-CN" altLang="en-US"/>
              <a:t>Francis Ouellette</a:t>
            </a: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zh-CN" altLang="en-US"/>
              <a:t>August 3rd, 1999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zh-CN" altLang="en-US"/>
              <a:t>Lecture 2.0</a:t>
            </a: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9A4137A-9204-4B65-BEDF-48DB52DF2180}" type="slidenum">
              <a:rPr lang="zh-CN" altLang="en-US"/>
              <a:pPr/>
              <a:t>8</a:t>
            </a:fld>
            <a:endParaRPr lang="en-US" altLang="zh-CN"/>
          </a:p>
        </p:txBody>
      </p:sp>
      <p:sp>
        <p:nvSpPr>
          <p:cNvPr id="395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5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00906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4AFEA6-53A9-4C4F-A795-1FD586CA0D4C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1698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>
                <a:latin typeface="Times New Roman" pitchFamily="18" charset="0"/>
                <a:ea typeface="ＭＳ Ｐゴシック" charset="-128"/>
              </a:rPr>
              <a:t>~11,000 sequences are submitted per day.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4AFEA6-53A9-4C4F-A795-1FD586CA0D4C}" type="slidenum">
              <a:rPr lang="en-IN" smtClean="0"/>
              <a:pPr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564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CD1B66-63C2-4B48-9993-A00F7D7F53B9}" type="slidenum">
              <a:rPr lang="en-US"/>
              <a:pPr/>
              <a:t>17</a:t>
            </a:fld>
            <a:endParaRPr lang="en-US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>
              <a:latin typeface="Times New Roman" pitchFamily="18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928022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zh-CN" altLang="en-US"/>
              <a:t>Francis Ouellette</a:t>
            </a:r>
            <a:endParaRPr lang="en-US" altLang="zh-CN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zh-CN" altLang="en-US"/>
              <a:t>August 3rd, 1999</a:t>
            </a:r>
            <a:endParaRPr lang="en-US" altLang="zh-CN"/>
          </a:p>
        </p:txBody>
      </p:sp>
      <p:sp>
        <p:nvSpPr>
          <p:cNvPr id="9216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zh-CN" altLang="en-US"/>
              <a:t>Lecture 2.0</a:t>
            </a:r>
            <a:endParaRPr lang="en-US" altLang="zh-CN"/>
          </a:p>
        </p:txBody>
      </p:sp>
      <p:sp>
        <p:nvSpPr>
          <p:cNvPr id="921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4C127BE-B8D9-49C5-B979-9ED188C9E497}" type="slidenum">
              <a:rPr lang="zh-CN" altLang="en-US"/>
              <a:pPr/>
              <a:t>18</a:t>
            </a:fld>
            <a:endParaRPr lang="en-US" altLang="zh-CN"/>
          </a:p>
        </p:txBody>
      </p:sp>
      <p:sp>
        <p:nvSpPr>
          <p:cNvPr id="921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/>
        </p:spPr>
      </p:sp>
      <p:sp>
        <p:nvSpPr>
          <p:cNvPr id="921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988" y="4343400"/>
            <a:ext cx="5026025" cy="4114800"/>
          </a:xfrm>
          <a:noFill/>
          <a:ln/>
        </p:spPr>
        <p:txBody>
          <a:bodyPr lIns="90644" tIns="45322" rIns="90644" bIns="45322"/>
          <a:lstStyle/>
          <a:p>
            <a:r>
              <a:rPr lang="en-CA" dirty="0" smtClean="0"/>
              <a:t>NIG –</a:t>
            </a:r>
            <a:r>
              <a:rPr lang="en-CA" baseline="0" dirty="0" smtClean="0"/>
              <a:t> national institute of genetics</a:t>
            </a:r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40169697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PIR-PSD:</a:t>
            </a:r>
          </a:p>
          <a:p>
            <a:pPr lvl="1"/>
            <a:r>
              <a:rPr lang="en-US" sz="2400" dirty="0" smtClean="0"/>
              <a:t>Object relational database</a:t>
            </a:r>
          </a:p>
          <a:p>
            <a:pPr lvl="1"/>
            <a:r>
              <a:rPr lang="en-US" sz="2400" dirty="0" smtClean="0"/>
              <a:t>Classification of protein sequences  based on </a:t>
            </a:r>
            <a:r>
              <a:rPr lang="en-US" sz="2400" smtClean="0"/>
              <a:t>super family</a:t>
            </a:r>
          </a:p>
          <a:p>
            <a:pPr lvl="1"/>
            <a:endParaRPr lang="en-US" sz="240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4AFEA6-53A9-4C4F-A795-1FD586CA0D4C}" type="slidenum">
              <a:rPr lang="en-IN" smtClean="0"/>
              <a:pPr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3113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3" descr="C:\Documents and Settings\Rami\Desktop\Ramis Work\PresPro\Templates_07_July_2004\Biotech\JPGS\PPP_SBIOT_TLE_DNA_Structur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80225"/>
          </a:xfrm>
          <a:prstGeom prst="rect">
            <a:avLst/>
          </a:prstGeom>
          <a:solidFill>
            <a:srgbClr val="336699"/>
          </a:solidFill>
          <a:ln w="9525">
            <a:solidFill>
              <a:srgbClr val="339966"/>
            </a:solidFill>
            <a:miter lim="800000"/>
            <a:headEnd/>
            <a:tailEnd/>
          </a:ln>
        </p:spPr>
      </p:pic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5933" y="1011272"/>
            <a:ext cx="6250927" cy="1880534"/>
          </a:xfrm>
        </p:spPr>
        <p:txBody>
          <a:bodyPr/>
          <a:lstStyle>
            <a:lvl1pPr algn="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8847" y="3029512"/>
            <a:ext cx="6193722" cy="1308198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0" y="6707188"/>
            <a:ext cx="1905000" cy="165100"/>
          </a:xfrm>
        </p:spPr>
        <p:txBody>
          <a:bodyPr/>
          <a:lstStyle>
            <a:lvl1pPr>
              <a:defRPr sz="11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692900"/>
            <a:ext cx="2895600" cy="165100"/>
          </a:xfrm>
        </p:spPr>
        <p:txBody>
          <a:bodyPr/>
          <a:lstStyle>
            <a:lvl1pPr>
              <a:defRPr sz="11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39000" y="6692900"/>
            <a:ext cx="1905000" cy="165100"/>
          </a:xfrm>
        </p:spPr>
        <p:txBody>
          <a:bodyPr/>
          <a:lstStyle>
            <a:lvl1pPr>
              <a:defRPr sz="11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1AC82BC-63BC-4ECF-8934-2EF36ACE3E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606211-49B5-468A-AAB0-43FD32EDFC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196" y="4406563"/>
            <a:ext cx="7772543" cy="1362706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196" y="2906151"/>
            <a:ext cx="7772543" cy="1500412"/>
          </a:xfrm>
        </p:spPr>
        <p:txBody>
          <a:bodyPr anchor="b"/>
          <a:lstStyle>
            <a:lvl1pPr marL="0" indent="0">
              <a:buNone/>
              <a:defRPr sz="1800"/>
            </a:lvl1pPr>
            <a:lvl2pPr marL="412394" indent="0">
              <a:buNone/>
              <a:defRPr sz="1600"/>
            </a:lvl2pPr>
            <a:lvl3pPr marL="824789" indent="0">
              <a:buNone/>
              <a:defRPr sz="1400"/>
            </a:lvl3pPr>
            <a:lvl4pPr marL="1237183" indent="0">
              <a:buNone/>
              <a:defRPr sz="1300"/>
            </a:lvl4pPr>
            <a:lvl5pPr marL="1649578" indent="0">
              <a:buNone/>
              <a:defRPr sz="1300"/>
            </a:lvl5pPr>
            <a:lvl6pPr marL="2061972" indent="0">
              <a:buNone/>
              <a:defRPr sz="1300"/>
            </a:lvl6pPr>
            <a:lvl7pPr marL="2474366" indent="0">
              <a:buNone/>
              <a:defRPr sz="1300"/>
            </a:lvl7pPr>
            <a:lvl8pPr marL="2886761" indent="0">
              <a:buNone/>
              <a:defRPr sz="1300"/>
            </a:lvl8pPr>
            <a:lvl9pPr marL="3299155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53A261-05FF-4D05-9048-0B65F9B1F0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5598" y="1583608"/>
            <a:ext cx="3706795" cy="4957383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9682" y="1583608"/>
            <a:ext cx="3706795" cy="4957383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84689A-05EE-47F6-9988-0458F0D668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29" y="273976"/>
            <a:ext cx="8228742" cy="1143239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629" y="1534838"/>
            <a:ext cx="4040007" cy="639755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2394" indent="0">
              <a:buNone/>
              <a:defRPr sz="1800" b="1"/>
            </a:lvl2pPr>
            <a:lvl3pPr marL="824789" indent="0">
              <a:buNone/>
              <a:defRPr sz="1600" b="1"/>
            </a:lvl3pPr>
            <a:lvl4pPr marL="1237183" indent="0">
              <a:buNone/>
              <a:defRPr sz="1400" b="1"/>
            </a:lvl4pPr>
            <a:lvl5pPr marL="1649578" indent="0">
              <a:buNone/>
              <a:defRPr sz="1400" b="1"/>
            </a:lvl5pPr>
            <a:lvl6pPr marL="2061972" indent="0">
              <a:buNone/>
              <a:defRPr sz="1400" b="1"/>
            </a:lvl6pPr>
            <a:lvl7pPr marL="2474366" indent="0">
              <a:buNone/>
              <a:defRPr sz="1400" b="1"/>
            </a:lvl7pPr>
            <a:lvl8pPr marL="2886761" indent="0">
              <a:buNone/>
              <a:defRPr sz="1400" b="1"/>
            </a:lvl8pPr>
            <a:lvl9pPr marL="3299155" indent="0">
              <a:buNone/>
              <a:defRPr sz="1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629" y="2174593"/>
            <a:ext cx="4040007" cy="3951849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4935" y="1534838"/>
            <a:ext cx="4041436" cy="639755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2394" indent="0">
              <a:buNone/>
              <a:defRPr sz="1800" b="1"/>
            </a:lvl2pPr>
            <a:lvl3pPr marL="824789" indent="0">
              <a:buNone/>
              <a:defRPr sz="1600" b="1"/>
            </a:lvl3pPr>
            <a:lvl4pPr marL="1237183" indent="0">
              <a:buNone/>
              <a:defRPr sz="1400" b="1"/>
            </a:lvl4pPr>
            <a:lvl5pPr marL="1649578" indent="0">
              <a:buNone/>
              <a:defRPr sz="1400" b="1"/>
            </a:lvl5pPr>
            <a:lvl6pPr marL="2061972" indent="0">
              <a:buNone/>
              <a:defRPr sz="1400" b="1"/>
            </a:lvl6pPr>
            <a:lvl7pPr marL="2474366" indent="0">
              <a:buNone/>
              <a:defRPr sz="1400" b="1"/>
            </a:lvl7pPr>
            <a:lvl8pPr marL="2886761" indent="0">
              <a:buNone/>
              <a:defRPr sz="1400" b="1"/>
            </a:lvl8pPr>
            <a:lvl9pPr marL="3299155" indent="0">
              <a:buNone/>
              <a:defRPr sz="1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4935" y="2174593"/>
            <a:ext cx="4041436" cy="3951849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EE7AC0-6F85-4C5A-BDC8-1DC4E49F5A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83B153-278B-4E6B-9CD6-7F53F18AAB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C65ECE-D226-4A1F-B8FF-9EFAD189D4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30" y="272542"/>
            <a:ext cx="3007481" cy="1161887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227" y="272541"/>
            <a:ext cx="5111144" cy="5853901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630" y="1434428"/>
            <a:ext cx="3007481" cy="4692014"/>
          </a:xfrm>
        </p:spPr>
        <p:txBody>
          <a:bodyPr/>
          <a:lstStyle>
            <a:lvl1pPr marL="0" indent="0">
              <a:buNone/>
              <a:defRPr sz="1300"/>
            </a:lvl1pPr>
            <a:lvl2pPr marL="412394" indent="0">
              <a:buNone/>
              <a:defRPr sz="1100"/>
            </a:lvl2pPr>
            <a:lvl3pPr marL="824789" indent="0">
              <a:buNone/>
              <a:defRPr sz="900"/>
            </a:lvl3pPr>
            <a:lvl4pPr marL="1237183" indent="0">
              <a:buNone/>
              <a:defRPr sz="800"/>
            </a:lvl4pPr>
            <a:lvl5pPr marL="1649578" indent="0">
              <a:buNone/>
              <a:defRPr sz="800"/>
            </a:lvl5pPr>
            <a:lvl6pPr marL="2061972" indent="0">
              <a:buNone/>
              <a:defRPr sz="800"/>
            </a:lvl6pPr>
            <a:lvl7pPr marL="2474366" indent="0">
              <a:buNone/>
              <a:defRPr sz="800"/>
            </a:lvl7pPr>
            <a:lvl8pPr marL="2886761" indent="0">
              <a:buNone/>
              <a:defRPr sz="800"/>
            </a:lvl8pPr>
            <a:lvl9pPr marL="3299155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A481AC-31CD-408B-A0E3-F4A1EA888D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1904" y="4801030"/>
            <a:ext cx="5487258" cy="566599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1904" y="612502"/>
            <a:ext cx="5487258" cy="4115373"/>
          </a:xfrm>
        </p:spPr>
        <p:txBody>
          <a:bodyPr/>
          <a:lstStyle>
            <a:lvl1pPr marL="0" indent="0">
              <a:buNone/>
              <a:defRPr sz="2900"/>
            </a:lvl1pPr>
            <a:lvl2pPr marL="412394" indent="0">
              <a:buNone/>
              <a:defRPr sz="2500"/>
            </a:lvl2pPr>
            <a:lvl3pPr marL="824789" indent="0">
              <a:buNone/>
              <a:defRPr sz="2200"/>
            </a:lvl3pPr>
            <a:lvl4pPr marL="1237183" indent="0">
              <a:buNone/>
              <a:defRPr sz="1800"/>
            </a:lvl4pPr>
            <a:lvl5pPr marL="1649578" indent="0">
              <a:buNone/>
              <a:defRPr sz="1800"/>
            </a:lvl5pPr>
            <a:lvl6pPr marL="2061972" indent="0">
              <a:buNone/>
              <a:defRPr sz="1800"/>
            </a:lvl6pPr>
            <a:lvl7pPr marL="2474366" indent="0">
              <a:buNone/>
              <a:defRPr sz="1800"/>
            </a:lvl7pPr>
            <a:lvl8pPr marL="2886761" indent="0">
              <a:buNone/>
              <a:defRPr sz="1800"/>
            </a:lvl8pPr>
            <a:lvl9pPr marL="3299155" indent="0">
              <a:buNone/>
              <a:defRPr sz="18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1904" y="5367629"/>
            <a:ext cx="5487258" cy="804714"/>
          </a:xfrm>
        </p:spPr>
        <p:txBody>
          <a:bodyPr/>
          <a:lstStyle>
            <a:lvl1pPr marL="0" indent="0">
              <a:buNone/>
              <a:defRPr sz="1300"/>
            </a:lvl1pPr>
            <a:lvl2pPr marL="412394" indent="0">
              <a:buNone/>
              <a:defRPr sz="1100"/>
            </a:lvl2pPr>
            <a:lvl3pPr marL="824789" indent="0">
              <a:buNone/>
              <a:defRPr sz="900"/>
            </a:lvl3pPr>
            <a:lvl4pPr marL="1237183" indent="0">
              <a:buNone/>
              <a:defRPr sz="800"/>
            </a:lvl4pPr>
            <a:lvl5pPr marL="1649578" indent="0">
              <a:buNone/>
              <a:defRPr sz="800"/>
            </a:lvl5pPr>
            <a:lvl6pPr marL="2061972" indent="0">
              <a:buNone/>
              <a:defRPr sz="800"/>
            </a:lvl6pPr>
            <a:lvl7pPr marL="2474366" indent="0">
              <a:buNone/>
              <a:defRPr sz="800"/>
            </a:lvl7pPr>
            <a:lvl8pPr marL="2886761" indent="0">
              <a:buNone/>
              <a:defRPr sz="800"/>
            </a:lvl8pPr>
            <a:lvl9pPr marL="3299155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4D94E3-34DB-4F2A-A095-2CD52FD4AB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633A7-F829-4C73-B2C2-996F17E19D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31544" y="137705"/>
            <a:ext cx="1956364" cy="640328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2451" y="137705"/>
            <a:ext cx="5731804" cy="6403286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E5A3F4-1333-40ED-891B-8570406C63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FD53CC0F-7C86-440B-AAA3-503562C923EC}" type="datetime1">
              <a:rPr lang="en-US" altLang="en-US"/>
              <a:pPr/>
              <a:t>1/7/2016</a:t>
            </a:fld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AE844B93-2D83-4190-801E-FA26AC758A7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8" descr="C:\Documents and Settings\Rami\Desktop\Ramis Work\PresPro\Templates_07_July_2004\Biotech\JPGS\PPP_SBIOT_TXT_DNA_Structure.jp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688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62025" y="138113"/>
            <a:ext cx="7826375" cy="1376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IN" smtClean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35075" y="1584325"/>
            <a:ext cx="7551738" cy="4956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 smtClean="0"/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6525" y="6624638"/>
            <a:ext cx="1905000" cy="233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defTabSz="915001">
              <a:defRPr sz="900" smtClean="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57538" y="6624638"/>
            <a:ext cx="2894012" cy="233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algn="ctr" defTabSz="915001">
              <a:defRPr sz="900" smtClean="0">
                <a:solidFill>
                  <a:srgbClr val="FFFFFF"/>
                </a:solidFill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70725" y="6624638"/>
            <a:ext cx="1905000" cy="233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algn="r" defTabSz="915001">
              <a:defRPr sz="900" smtClean="0">
                <a:solidFill>
                  <a:srgbClr val="FFFFFF"/>
                </a:solidFill>
                <a:effectLst/>
              </a:defRPr>
            </a:lvl1pPr>
          </a:lstStyle>
          <a:p>
            <a:pPr>
              <a:defRPr/>
            </a:pPr>
            <a:fld id="{68904577-0B29-4BBA-944C-87C1F51695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2" r:id="rId12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400">
          <a:solidFill>
            <a:srgbClr val="FFFFFF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400">
          <a:solidFill>
            <a:srgbClr val="FFFFFF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400">
          <a:solidFill>
            <a:srgbClr val="FFFFFF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400">
          <a:solidFill>
            <a:srgbClr val="FFFFFF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400">
          <a:solidFill>
            <a:srgbClr val="FFFFFF"/>
          </a:solidFill>
          <a:latin typeface="Arial" charset="0"/>
        </a:defRPr>
      </a:lvl5pPr>
      <a:lvl6pPr marL="412394" algn="l" defTabSz="915001" rtl="0" eaLnBrk="1" fontAlgn="base" hangingPunct="1">
        <a:spcBef>
          <a:spcPct val="0"/>
        </a:spcBef>
        <a:spcAft>
          <a:spcPct val="0"/>
        </a:spcAft>
        <a:defRPr sz="3400">
          <a:solidFill>
            <a:srgbClr val="FFFFFF"/>
          </a:solidFill>
          <a:latin typeface="Arial" charset="0"/>
        </a:defRPr>
      </a:lvl6pPr>
      <a:lvl7pPr marL="824789" algn="l" defTabSz="915001" rtl="0" eaLnBrk="1" fontAlgn="base" hangingPunct="1">
        <a:spcBef>
          <a:spcPct val="0"/>
        </a:spcBef>
        <a:spcAft>
          <a:spcPct val="0"/>
        </a:spcAft>
        <a:defRPr sz="3400">
          <a:solidFill>
            <a:srgbClr val="FFFFFF"/>
          </a:solidFill>
          <a:latin typeface="Arial" charset="0"/>
        </a:defRPr>
      </a:lvl7pPr>
      <a:lvl8pPr marL="1237183" algn="l" defTabSz="915001" rtl="0" eaLnBrk="1" fontAlgn="base" hangingPunct="1">
        <a:spcBef>
          <a:spcPct val="0"/>
        </a:spcBef>
        <a:spcAft>
          <a:spcPct val="0"/>
        </a:spcAft>
        <a:defRPr sz="3400">
          <a:solidFill>
            <a:srgbClr val="FFFFFF"/>
          </a:solidFill>
          <a:latin typeface="Arial" charset="0"/>
        </a:defRPr>
      </a:lvl8pPr>
      <a:lvl9pPr marL="1649578" algn="l" defTabSz="915001" rtl="0" eaLnBrk="1" fontAlgn="base" hangingPunct="1">
        <a:spcBef>
          <a:spcPct val="0"/>
        </a:spcBef>
        <a:spcAft>
          <a:spcPct val="0"/>
        </a:spcAft>
        <a:defRPr sz="3400">
          <a:solidFill>
            <a:srgbClr val="FFFFFF"/>
          </a:solidFill>
          <a:latin typeface="Arial" charset="0"/>
        </a:defRPr>
      </a:lvl9pPr>
    </p:titleStyle>
    <p:bodyStyle>
      <a:lvl1pPr marL="341313" indent="-341313" algn="l" rtl="0" eaLnBrk="1" fontAlgn="base" hangingPunct="1">
        <a:spcBef>
          <a:spcPct val="20000"/>
        </a:spcBef>
        <a:spcAft>
          <a:spcPct val="0"/>
        </a:spcAft>
        <a:buChar char="•"/>
        <a:defRPr sz="2500">
          <a:solidFill>
            <a:srgbClr val="FFFFFF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200">
          <a:solidFill>
            <a:srgbClr val="FFFFFF"/>
          </a:solidFill>
          <a:latin typeface="+mn-lt"/>
        </a:defRPr>
      </a:lvl2pPr>
      <a:lvl3pPr marL="1141413" indent="-227013" algn="l" rtl="0" eaLnBrk="1" fontAlgn="base" hangingPunct="1">
        <a:spcBef>
          <a:spcPct val="20000"/>
        </a:spcBef>
        <a:spcAft>
          <a:spcPct val="0"/>
        </a:spcAft>
        <a:buChar char="•"/>
        <a:defRPr sz="2200">
          <a:solidFill>
            <a:srgbClr val="FFFFFF"/>
          </a:solidFill>
          <a:latin typeface="+mn-lt"/>
        </a:defRPr>
      </a:lvl3pPr>
      <a:lvl4pPr marL="1598613" indent="-227013" algn="l" rtl="0" eaLnBrk="1" fontAlgn="base" hangingPunct="1">
        <a:spcBef>
          <a:spcPct val="20000"/>
        </a:spcBef>
        <a:spcAft>
          <a:spcPct val="0"/>
        </a:spcAft>
        <a:buChar char="–"/>
        <a:defRPr sz="1900">
          <a:solidFill>
            <a:srgbClr val="FFFFFF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rgbClr val="FFFFFF"/>
          </a:solidFill>
          <a:latin typeface="+mn-lt"/>
        </a:defRPr>
      </a:lvl5pPr>
      <a:lvl6pPr marL="2470071" indent="-229108" algn="l" defTabSz="915001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rgbClr val="FFFFFF"/>
          </a:solidFill>
          <a:latin typeface="+mn-lt"/>
        </a:defRPr>
      </a:lvl6pPr>
      <a:lvl7pPr marL="2882465" indent="-229108" algn="l" defTabSz="915001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rgbClr val="FFFFFF"/>
          </a:solidFill>
          <a:latin typeface="+mn-lt"/>
        </a:defRPr>
      </a:lvl7pPr>
      <a:lvl8pPr marL="3294860" indent="-229108" algn="l" defTabSz="915001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rgbClr val="FFFFFF"/>
          </a:solidFill>
          <a:latin typeface="+mn-lt"/>
        </a:defRPr>
      </a:lvl8pPr>
      <a:lvl9pPr marL="3707254" indent="-229108" algn="l" defTabSz="915001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rgbClr val="FFFFFF"/>
          </a:solidFill>
          <a:latin typeface="+mn-lt"/>
        </a:defRPr>
      </a:lvl9pPr>
    </p:bodyStyle>
    <p:otherStyle>
      <a:defPPr>
        <a:defRPr lang="en-US"/>
      </a:defPPr>
      <a:lvl1pPr marL="0" algn="l" defTabSz="82478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2394" algn="l" defTabSz="82478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4789" algn="l" defTabSz="82478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7183" algn="l" defTabSz="82478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9578" algn="l" defTabSz="82478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61972" algn="l" defTabSz="82478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74366" algn="l" defTabSz="82478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86761" algn="l" defTabSz="82478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99155" algn="l" defTabSz="82478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image" Target="../media/image5.jpeg"/><Relationship Id="rId7" Type="http://schemas.openxmlformats.org/officeDocument/2006/relationships/image" Target="../media/image16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025" y="138113"/>
            <a:ext cx="7826375" cy="986631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5400" dirty="0" smtClean="0">
                <a:solidFill>
                  <a:schemeClr val="tx1"/>
                </a:solidFill>
              </a:rPr>
              <a:t>A historical perspective</a:t>
            </a:r>
            <a:endParaRPr lang="en-IN" sz="5400" dirty="0" smtClean="0">
              <a:solidFill>
                <a:schemeClr val="tx1"/>
              </a:solidFill>
            </a:endParaRPr>
          </a:p>
        </p:txBody>
      </p:sp>
      <p:pic>
        <p:nvPicPr>
          <p:cNvPr id="5" name="Picture 14" descr="usda1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4003050" y="1333286"/>
            <a:ext cx="5140950" cy="4039930"/>
          </a:xfrm>
          <a:prstGeom prst="rect">
            <a:avLst/>
          </a:prstGeom>
        </p:spPr>
      </p:pic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5496" y="1124744"/>
            <a:ext cx="4248472" cy="5733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1313" marR="0" lvl="0" indent="-341313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36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The 1960s: the birth of bioinformatics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</a:rPr>
              <a:t>High-level computer languages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</a:rPr>
              <a:t>Protein sequence data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</a:rPr>
              <a:t>Academic access to computers</a:t>
            </a:r>
          </a:p>
          <a:p>
            <a:pPr marL="341313" indent="-341313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600" kern="0" dirty="0" smtClean="0">
                <a:effectLst/>
                <a:latin typeface="+mn-lt"/>
              </a:rPr>
              <a:t>Margaret Oakley </a:t>
            </a:r>
            <a:r>
              <a:rPr lang="en-US" sz="3600" kern="0" dirty="0" err="1" smtClean="0">
                <a:effectLst/>
                <a:latin typeface="+mn-lt"/>
              </a:rPr>
              <a:t>Dayhoff</a:t>
            </a:r>
            <a:endParaRPr lang="en-US" sz="3600" kern="0" dirty="0" smtClean="0">
              <a:effectLst/>
              <a:latin typeface="+mn-lt"/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400" kern="0" dirty="0" smtClean="0">
                <a:effectLst/>
                <a:latin typeface="+mn-lt"/>
              </a:rPr>
              <a:t>First protein database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400" kern="0" dirty="0" smtClean="0">
                <a:effectLst/>
                <a:latin typeface="+mn-lt"/>
              </a:rPr>
              <a:t>First program for sequence assembly</a:t>
            </a:r>
            <a:endParaRPr lang="en-US" sz="2400" kern="0" dirty="0">
              <a:effectLst/>
              <a:latin typeface="+mn-lt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4785138" y="5374957"/>
            <a:ext cx="394210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3200" b="1" dirty="0">
                <a:effectLst/>
                <a:latin typeface="Arial" charset="0"/>
              </a:rPr>
              <a:t>IBM 7090 computer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025" y="138113"/>
            <a:ext cx="7826375" cy="914623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5400" dirty="0" smtClean="0">
                <a:solidFill>
                  <a:schemeClr val="tx1"/>
                </a:solidFill>
              </a:rPr>
              <a:t>Comparison</a:t>
            </a:r>
            <a:endParaRPr lang="en-IN" sz="5400" dirty="0" smtClean="0">
              <a:solidFill>
                <a:schemeClr val="tx1"/>
              </a:solidFill>
            </a:endParaRPr>
          </a:p>
        </p:txBody>
      </p:sp>
      <p:pic>
        <p:nvPicPr>
          <p:cNvPr id="4" name="Picture 16" descr="usda1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989013" y="1355725"/>
            <a:ext cx="3141662" cy="2468563"/>
          </a:xfrm>
          <a:prstGeom prst="rect">
            <a:avLst/>
          </a:prstGeom>
        </p:spPr>
      </p:pic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4993009" y="1340768"/>
            <a:ext cx="3827463" cy="2062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dirty="0">
                <a:effectLst/>
              </a:rPr>
              <a:t>32 Kbytes RAM</a:t>
            </a:r>
          </a:p>
          <a:p>
            <a:pPr>
              <a:spcBef>
                <a:spcPct val="50000"/>
              </a:spcBef>
            </a:pPr>
            <a:r>
              <a:rPr lang="en-US" sz="3200" dirty="0">
                <a:effectLst/>
              </a:rPr>
              <a:t>2.18 µHz</a:t>
            </a:r>
          </a:p>
          <a:p>
            <a:pPr>
              <a:spcBef>
                <a:spcPct val="50000"/>
              </a:spcBef>
            </a:pPr>
            <a:r>
              <a:rPr lang="en-US" sz="3200" dirty="0">
                <a:effectLst/>
              </a:rPr>
              <a:t>$2,900,000 in 1960</a:t>
            </a:r>
          </a:p>
        </p:txBody>
      </p:sp>
      <p:pic>
        <p:nvPicPr>
          <p:cNvPr id="1026" name="Picture 2" descr="http://szamitogepjavitok.hu/wp-content/uploads/2011/11/konfig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584" y="3781425"/>
            <a:ext cx="3810000" cy="3076575"/>
          </a:xfrm>
          <a:prstGeom prst="rect">
            <a:avLst/>
          </a:prstGeom>
          <a:noFill/>
        </p:spPr>
      </p:pic>
      <p:sp>
        <p:nvSpPr>
          <p:cNvPr id="7" name="Text Box 12"/>
          <p:cNvSpPr txBox="1">
            <a:spLocks noChangeArrowheads="1"/>
          </p:cNvSpPr>
          <p:nvPr/>
        </p:nvSpPr>
        <p:spPr bwMode="auto">
          <a:xfrm>
            <a:off x="4993009" y="4221088"/>
            <a:ext cx="3827463" cy="2062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dirty="0">
                <a:effectLst/>
              </a:rPr>
              <a:t>1 GB RAM</a:t>
            </a:r>
          </a:p>
          <a:p>
            <a:pPr>
              <a:spcBef>
                <a:spcPct val="50000"/>
              </a:spcBef>
            </a:pPr>
            <a:r>
              <a:rPr lang="en-US" sz="3200" dirty="0">
                <a:effectLst/>
              </a:rPr>
              <a:t>2.4 GHz</a:t>
            </a:r>
          </a:p>
          <a:p>
            <a:pPr>
              <a:spcBef>
                <a:spcPct val="50000"/>
              </a:spcBef>
            </a:pPr>
            <a:r>
              <a:rPr lang="en-US" sz="3200" dirty="0">
                <a:effectLst/>
              </a:rPr>
              <a:t>$</a:t>
            </a:r>
            <a:r>
              <a:rPr lang="en-US" sz="3200" dirty="0" smtClean="0">
                <a:effectLst/>
              </a:rPr>
              <a:t>1100 </a:t>
            </a:r>
            <a:r>
              <a:rPr lang="en-US" sz="3200" dirty="0">
                <a:effectLst/>
              </a:rPr>
              <a:t>in </a:t>
            </a:r>
            <a:r>
              <a:rPr lang="en-US" sz="3200" dirty="0" smtClean="0">
                <a:effectLst/>
              </a:rPr>
              <a:t>2013</a:t>
            </a:r>
            <a:endParaRPr lang="en-US" sz="3200" dirty="0"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 cstate="print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108422"/>
            <a:ext cx="7826375" cy="1016322"/>
          </a:xfrm>
        </p:spPr>
        <p:txBody>
          <a:bodyPr/>
          <a:lstStyle/>
          <a:p>
            <a:pPr algn="ctr"/>
            <a:r>
              <a:rPr lang="en-AU" sz="5400" dirty="0" smtClean="0">
                <a:solidFill>
                  <a:schemeClr val="tx1"/>
                </a:solidFill>
                <a:cs typeface="Calibri" pitchFamily="34" charset="0"/>
              </a:rPr>
              <a:t>Mother of Bioinformatics</a:t>
            </a:r>
            <a:endParaRPr lang="en-IN" sz="5400" dirty="0">
              <a:solidFill>
                <a:schemeClr val="tx1"/>
              </a:solidFill>
              <a:cs typeface="Calibri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0" y="1340768"/>
            <a:ext cx="5796136" cy="5544616"/>
            <a:chOff x="0" y="1340768"/>
            <a:chExt cx="5796136" cy="5544616"/>
          </a:xfrm>
        </p:grpSpPr>
        <p:pic>
          <p:nvPicPr>
            <p:cNvPr id="5" name="Picture 4" descr="http://www-sop.inria.fr/sysdys/personnel/campillo/icons/margaret-dayhoof.jpg"/>
            <p:cNvPicPr>
              <a:picLocks noChangeAspect="1" noChangeArrowheads="1"/>
            </p:cNvPicPr>
            <p:nvPr/>
          </p:nvPicPr>
          <p:blipFill>
            <a:blip r:embed="rId3" cstate="print"/>
            <a:srcRect r="34118"/>
            <a:stretch>
              <a:fillRect/>
            </a:stretch>
          </p:blipFill>
          <p:spPr bwMode="auto">
            <a:xfrm>
              <a:off x="0" y="1340768"/>
              <a:ext cx="4283968" cy="4551717"/>
            </a:xfrm>
            <a:prstGeom prst="rect">
              <a:avLst/>
            </a:prstGeom>
            <a:noFill/>
          </p:spPr>
        </p:pic>
        <p:pic>
          <p:nvPicPr>
            <p:cNvPr id="6" name="Picture 6" descr="https://encrypted-tbn2.gstatic.com/images?q=tbn:ANd9GcToXshKC5wb9NfmdsVrDl2LGDRjTVdOHJfjUvoTImstVdrIrF28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411760" y="2510187"/>
              <a:ext cx="3384376" cy="4375197"/>
            </a:xfrm>
            <a:prstGeom prst="rect">
              <a:avLst/>
            </a:prstGeom>
            <a:noFill/>
          </p:spPr>
        </p:pic>
      </p:grpSp>
      <p:sp>
        <p:nvSpPr>
          <p:cNvPr id="7" name="TextBox 6"/>
          <p:cNvSpPr txBox="1"/>
          <p:nvPr/>
        </p:nvSpPr>
        <p:spPr>
          <a:xfrm>
            <a:off x="5838340" y="945296"/>
            <a:ext cx="324036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dirty="0">
                <a:effectLst/>
                <a:latin typeface="Calibri" pitchFamily="34" charset="0"/>
                <a:ea typeface="+mj-ea"/>
                <a:cs typeface="Calibri" pitchFamily="34" charset="0"/>
              </a:rPr>
              <a:t>Dr. Margaret </a:t>
            </a:r>
            <a:r>
              <a:rPr lang="en-AU" sz="2000" dirty="0" err="1">
                <a:effectLst/>
                <a:latin typeface="Calibri" pitchFamily="34" charset="0"/>
                <a:ea typeface="+mj-ea"/>
                <a:cs typeface="Calibri" pitchFamily="34" charset="0"/>
              </a:rPr>
              <a:t>Okaley</a:t>
            </a:r>
            <a:r>
              <a:rPr lang="en-AU" sz="2000" dirty="0">
                <a:effectLst/>
                <a:latin typeface="Calibri" pitchFamily="34" charset="0"/>
                <a:ea typeface="+mj-ea"/>
                <a:cs typeface="Calibri" pitchFamily="34" charset="0"/>
              </a:rPr>
              <a:t> </a:t>
            </a:r>
            <a:r>
              <a:rPr lang="en-AU" sz="2000" dirty="0" err="1">
                <a:effectLst/>
                <a:latin typeface="Calibri" pitchFamily="34" charset="0"/>
                <a:ea typeface="+mj-ea"/>
                <a:cs typeface="Calibri" pitchFamily="34" charset="0"/>
              </a:rPr>
              <a:t>Dayhoff</a:t>
            </a:r>
            <a:endParaRPr lang="en-AU" sz="2000" dirty="0">
              <a:effectLst/>
              <a:latin typeface="Calibri" pitchFamily="34" charset="0"/>
              <a:ea typeface="+mj-ea"/>
              <a:cs typeface="Calibri" pitchFamily="34" charset="0"/>
            </a:endParaRPr>
          </a:p>
          <a:p>
            <a:pPr algn="just"/>
            <a:r>
              <a:rPr lang="en-AU" sz="2000" dirty="0">
                <a:effectLst/>
                <a:latin typeface="Calibri" pitchFamily="34" charset="0"/>
                <a:ea typeface="+mj-ea"/>
                <a:cs typeface="Calibri" pitchFamily="34" charset="0"/>
              </a:rPr>
              <a:t>(1925-1983) was a pioneer in the use of computers in chemistry and biology. Her work was multi-disciplinary and used her knowledge of chemistry, mathematics, biology and computer science to develop an entirely new field. She is credited today as a founder of </a:t>
            </a:r>
            <a:r>
              <a:rPr lang="en-AU" sz="2000" dirty="0" err="1">
                <a:effectLst/>
                <a:latin typeface="Calibri" pitchFamily="34" charset="0"/>
                <a:ea typeface="+mj-ea"/>
                <a:cs typeface="Calibri" pitchFamily="34" charset="0"/>
              </a:rPr>
              <a:t>Bioinformtics</a:t>
            </a:r>
            <a:r>
              <a:rPr lang="en-AU" sz="2000" dirty="0">
                <a:effectLst/>
                <a:latin typeface="Calibri" pitchFamily="34" charset="0"/>
                <a:ea typeface="+mj-ea"/>
                <a:cs typeface="Calibri" pitchFamily="34" charset="0"/>
              </a:rPr>
              <a:t>. </a:t>
            </a:r>
            <a:r>
              <a:rPr lang="en-AU" sz="2000" b="1" dirty="0">
                <a:effectLst/>
                <a:latin typeface="Calibri" pitchFamily="34" charset="0"/>
                <a:ea typeface="+mj-ea"/>
                <a:cs typeface="Calibri" pitchFamily="34" charset="0"/>
              </a:rPr>
              <a:t>Dr. </a:t>
            </a:r>
            <a:r>
              <a:rPr lang="en-AU" sz="2000" b="1" dirty="0" err="1">
                <a:effectLst/>
                <a:latin typeface="Calibri" pitchFamily="34" charset="0"/>
                <a:ea typeface="+mj-ea"/>
                <a:cs typeface="Calibri" pitchFamily="34" charset="0"/>
              </a:rPr>
              <a:t>Dayhoff</a:t>
            </a:r>
            <a:r>
              <a:rPr lang="en-AU" sz="2000" b="1" dirty="0">
                <a:effectLst/>
                <a:latin typeface="Calibri" pitchFamily="34" charset="0"/>
                <a:ea typeface="+mj-ea"/>
                <a:cs typeface="Calibri" pitchFamily="34" charset="0"/>
              </a:rPr>
              <a:t> was the first woman in the field of Bioinformatics </a:t>
            </a:r>
            <a:r>
              <a:rPr lang="en-AU" sz="2000" dirty="0">
                <a:effectLst/>
                <a:latin typeface="Calibri" pitchFamily="34" charset="0"/>
                <a:ea typeface="+mj-ea"/>
                <a:cs typeface="Calibri" pitchFamily="34" charset="0"/>
              </a:rPr>
              <a:t>. She was also the first woman to hold office in the Biophysical Society, serving first as Secretary and later as President.</a:t>
            </a:r>
            <a:endParaRPr lang="en-IN" sz="2000" dirty="0">
              <a:effectLst/>
              <a:latin typeface="Calibri" pitchFamily="34" charset="0"/>
              <a:ea typeface="+mj-ea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025" y="138113"/>
            <a:ext cx="7826375" cy="986631"/>
          </a:xfrm>
        </p:spPr>
        <p:txBody>
          <a:bodyPr/>
          <a:lstStyle/>
          <a:p>
            <a:pPr algn="ctr"/>
            <a:r>
              <a:rPr lang="en-AU" sz="5400" dirty="0" smtClean="0"/>
              <a:t>Milestones-I</a:t>
            </a:r>
            <a:endParaRPr lang="en-IN" sz="540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55576" y="1119336"/>
          <a:ext cx="8136904" cy="533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8322"/>
                <a:gridCol w="7038582"/>
              </a:tblGrid>
              <a:tr h="910001">
                <a:tc>
                  <a:txBody>
                    <a:bodyPr/>
                    <a:lstStyle/>
                    <a:p>
                      <a:pPr algn="just"/>
                      <a:r>
                        <a:rPr lang="en-AU" sz="2800" b="0" dirty="0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1965</a:t>
                      </a:r>
                      <a:endParaRPr lang="en-IN" sz="2800" b="0" dirty="0">
                        <a:solidFill>
                          <a:schemeClr val="bg1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AU" sz="2800" b="0" dirty="0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Atlas of protein Sequence and Structure by Margaret </a:t>
                      </a:r>
                      <a:r>
                        <a:rPr lang="en-AU" sz="2800" b="0" dirty="0" err="1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Dayhoff</a:t>
                      </a:r>
                      <a:r>
                        <a:rPr lang="en-AU" sz="2800" b="0" dirty="0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 </a:t>
                      </a:r>
                      <a:endParaRPr lang="en-IN" sz="2800" b="0" dirty="0">
                        <a:solidFill>
                          <a:schemeClr val="bg1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910001">
                <a:tc>
                  <a:txBody>
                    <a:bodyPr/>
                    <a:lstStyle/>
                    <a:p>
                      <a:pPr algn="just"/>
                      <a:r>
                        <a:rPr lang="en-AU" sz="2800" b="0" dirty="0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1970</a:t>
                      </a:r>
                      <a:endParaRPr lang="en-IN" sz="2800" b="0" dirty="0">
                        <a:solidFill>
                          <a:schemeClr val="bg1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AU" sz="2800" b="0" dirty="0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Protein Data Bank established</a:t>
                      </a:r>
                      <a:r>
                        <a:rPr lang="en-AU" sz="2800" b="0" baseline="0" dirty="0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 </a:t>
                      </a:r>
                      <a:r>
                        <a:rPr lang="en-AU" sz="2800" b="0" dirty="0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Brookhaven National Laboratory</a:t>
                      </a:r>
                      <a:endParaRPr lang="en-IN" sz="2800" b="0" dirty="0">
                        <a:solidFill>
                          <a:schemeClr val="bg1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910001">
                <a:tc>
                  <a:txBody>
                    <a:bodyPr/>
                    <a:lstStyle/>
                    <a:p>
                      <a:pPr algn="just"/>
                      <a:r>
                        <a:rPr lang="en-AU" sz="2800" b="0" dirty="0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1970</a:t>
                      </a:r>
                      <a:endParaRPr lang="en-IN" sz="2800" b="0" dirty="0">
                        <a:solidFill>
                          <a:schemeClr val="bg1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AU" sz="2800" b="0" dirty="0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First sequence alignment algorithm,</a:t>
                      </a:r>
                      <a:r>
                        <a:rPr lang="en-AU" sz="2800" b="0" baseline="0" dirty="0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 </a:t>
                      </a:r>
                      <a:r>
                        <a:rPr lang="en-AU" sz="2800" b="0" dirty="0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Needleman and </a:t>
                      </a:r>
                      <a:r>
                        <a:rPr lang="en-AU" sz="2800" b="0" dirty="0" err="1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Wunsch</a:t>
                      </a:r>
                      <a:endParaRPr lang="en-IN" sz="2800" b="0" dirty="0">
                        <a:solidFill>
                          <a:schemeClr val="bg1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910001">
                <a:tc>
                  <a:txBody>
                    <a:bodyPr/>
                    <a:lstStyle/>
                    <a:p>
                      <a:pPr algn="just"/>
                      <a:r>
                        <a:rPr lang="en-AU" sz="2800" b="0" dirty="0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1974</a:t>
                      </a:r>
                      <a:endParaRPr lang="en-IN" sz="2800" b="0" dirty="0">
                        <a:solidFill>
                          <a:schemeClr val="bg1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AU" sz="2800" b="0" dirty="0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First protein structure prediction algorithm,</a:t>
                      </a:r>
                      <a:r>
                        <a:rPr lang="en-AU" sz="2800" b="0" baseline="0" dirty="0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 </a:t>
                      </a:r>
                      <a:r>
                        <a:rPr lang="en-AU" sz="2800" b="0" dirty="0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Chou and </a:t>
                      </a:r>
                      <a:r>
                        <a:rPr lang="en-AU" sz="2800" b="0" dirty="0" err="1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Fasman</a:t>
                      </a:r>
                      <a:endParaRPr lang="en-AU" sz="2800" b="0" dirty="0" smtClean="0">
                        <a:solidFill>
                          <a:schemeClr val="bg1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499033">
                <a:tc>
                  <a:txBody>
                    <a:bodyPr/>
                    <a:lstStyle/>
                    <a:p>
                      <a:pPr algn="just"/>
                      <a:r>
                        <a:rPr lang="en-AU" sz="2800" b="0" dirty="0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1978</a:t>
                      </a:r>
                      <a:endParaRPr lang="en-IN" sz="2800" b="0" dirty="0">
                        <a:solidFill>
                          <a:schemeClr val="bg1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AU" sz="2800" b="0" dirty="0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Bioinformatics was coined</a:t>
                      </a:r>
                    </a:p>
                  </a:txBody>
                  <a:tcPr/>
                </a:tc>
              </a:tr>
              <a:tr h="499033">
                <a:tc>
                  <a:txBody>
                    <a:bodyPr/>
                    <a:lstStyle/>
                    <a:p>
                      <a:pPr algn="just"/>
                      <a:r>
                        <a:rPr lang="en-AU" sz="2800" b="0" dirty="0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1982</a:t>
                      </a:r>
                      <a:endParaRPr lang="en-IN" sz="2800" b="0" dirty="0">
                        <a:solidFill>
                          <a:schemeClr val="bg1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AU" sz="2800" b="0" dirty="0" err="1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GenBank</a:t>
                      </a:r>
                      <a:r>
                        <a:rPr lang="en-AU" sz="2800" b="0" dirty="0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 made public</a:t>
                      </a:r>
                      <a:endParaRPr lang="en-IN" sz="2800" b="0" dirty="0">
                        <a:solidFill>
                          <a:schemeClr val="bg1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499033">
                <a:tc>
                  <a:txBody>
                    <a:bodyPr/>
                    <a:lstStyle/>
                    <a:p>
                      <a:pPr algn="just"/>
                      <a:r>
                        <a:rPr lang="en-AU" sz="2800" b="0" dirty="0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1985</a:t>
                      </a:r>
                      <a:endParaRPr lang="en-IN" sz="2800" b="0" dirty="0">
                        <a:solidFill>
                          <a:schemeClr val="bg1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AU" sz="2800" b="0" dirty="0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FASTA</a:t>
                      </a:r>
                      <a:r>
                        <a:rPr lang="en-AU" sz="2800" b="0" baseline="0" dirty="0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 </a:t>
                      </a:r>
                      <a:r>
                        <a:rPr lang="en-AU" sz="2800" b="0" baseline="0" dirty="0" err="1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algorithim</a:t>
                      </a:r>
                      <a:r>
                        <a:rPr lang="en-AU" sz="2800" b="0" baseline="0" dirty="0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, </a:t>
                      </a:r>
                      <a:r>
                        <a:rPr lang="en-AU" sz="2800" b="0" dirty="0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William Pearson</a:t>
                      </a:r>
                      <a:endParaRPr lang="en-IN" sz="2800" b="0" dirty="0">
                        <a:solidFill>
                          <a:schemeClr val="bg1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2089" y="-27384"/>
            <a:ext cx="7826375" cy="1124744"/>
          </a:xfrm>
        </p:spPr>
        <p:txBody>
          <a:bodyPr/>
          <a:lstStyle/>
          <a:p>
            <a:pPr algn="ctr"/>
            <a:r>
              <a:rPr lang="en-AU" sz="5400" dirty="0" smtClean="0"/>
              <a:t>Milestones-II</a:t>
            </a:r>
            <a:endParaRPr lang="en-IN" sz="5400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43608" y="908720"/>
          <a:ext cx="7898498" cy="57445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3018"/>
                <a:gridCol w="6615480"/>
              </a:tblGrid>
              <a:tr h="1006887">
                <a:tc>
                  <a:txBody>
                    <a:bodyPr/>
                    <a:lstStyle/>
                    <a:p>
                      <a:pPr marL="0" algn="just" defTabSz="824789" rtl="0" eaLnBrk="1" latinLnBrk="0" hangingPunct="1"/>
                      <a:r>
                        <a:rPr lang="en-AU" sz="2800" kern="1200" dirty="0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1988</a:t>
                      </a:r>
                      <a:endParaRPr lang="en-IN" sz="2800" b="0" kern="1200" dirty="0">
                        <a:solidFill>
                          <a:schemeClr val="bg1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just" defTabSz="824789" rtl="0" eaLnBrk="1" latinLnBrk="0" hangingPunct="1"/>
                      <a:r>
                        <a:rPr lang="en-IN" sz="2800" kern="1200" dirty="0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National Centre for Biotechnology Information (NCBI) created at NIH/NLM</a:t>
                      </a:r>
                      <a:endParaRPr lang="en-IN" sz="2800" b="0" kern="1200" dirty="0">
                        <a:solidFill>
                          <a:schemeClr val="bg1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577289">
                <a:tc>
                  <a:txBody>
                    <a:bodyPr/>
                    <a:lstStyle/>
                    <a:p>
                      <a:pPr marL="0" algn="just" defTabSz="824789" rtl="0" eaLnBrk="1" latinLnBrk="0" hangingPunct="1"/>
                      <a:r>
                        <a:rPr lang="en-AU" sz="2800" kern="1200" dirty="0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1990</a:t>
                      </a:r>
                      <a:endParaRPr lang="en-IN" sz="2800" b="0" kern="1200" dirty="0">
                        <a:solidFill>
                          <a:schemeClr val="bg1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just" defTabSz="824789" rtl="0" eaLnBrk="1" latinLnBrk="0" hangingPunct="1"/>
                      <a:r>
                        <a:rPr lang="en-AU" sz="2800" kern="1200" dirty="0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BLAST, Stephen </a:t>
                      </a:r>
                      <a:r>
                        <a:rPr lang="en-AU" sz="2800" kern="1200" dirty="0" err="1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Altschul</a:t>
                      </a:r>
                      <a:endParaRPr lang="en-IN" sz="2800" b="0" kern="1200" dirty="0">
                        <a:solidFill>
                          <a:schemeClr val="bg1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006887">
                <a:tc>
                  <a:txBody>
                    <a:bodyPr/>
                    <a:lstStyle/>
                    <a:p>
                      <a:pPr marL="0" algn="just" defTabSz="824789" rtl="0" eaLnBrk="1" latinLnBrk="0" hangingPunct="1"/>
                      <a:r>
                        <a:rPr lang="en-AU" sz="2800" kern="1200" dirty="0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1995</a:t>
                      </a:r>
                      <a:endParaRPr lang="en-IN" sz="2800" b="0" kern="1200" dirty="0">
                        <a:solidFill>
                          <a:schemeClr val="bg1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just" defTabSz="824789" rtl="0" eaLnBrk="1" latinLnBrk="0" hangingPunct="1"/>
                      <a:r>
                        <a:rPr lang="en-IN" sz="2800" kern="1200" dirty="0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First bacterial genomes completely sequenced (Haemophilus </a:t>
                      </a:r>
                      <a:r>
                        <a:rPr lang="en-IN" sz="2800" kern="1200" dirty="0" err="1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influenzae</a:t>
                      </a:r>
                      <a:r>
                        <a:rPr lang="en-IN" sz="2800" kern="1200" dirty="0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)</a:t>
                      </a:r>
                      <a:endParaRPr lang="en-IN" sz="2800" b="0" kern="1200" dirty="0">
                        <a:solidFill>
                          <a:schemeClr val="bg1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552164">
                <a:tc>
                  <a:txBody>
                    <a:bodyPr/>
                    <a:lstStyle/>
                    <a:p>
                      <a:pPr marL="0" algn="just" defTabSz="824789" rtl="0" eaLnBrk="1" latinLnBrk="0" hangingPunct="1"/>
                      <a:r>
                        <a:rPr lang="en-AU" sz="2800" kern="1200" dirty="0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1996</a:t>
                      </a:r>
                      <a:endParaRPr lang="en-IN" sz="2800" b="0" kern="1200" dirty="0">
                        <a:solidFill>
                          <a:schemeClr val="bg1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just" defTabSz="824789" rtl="0" eaLnBrk="1" latinLnBrk="0" hangingPunct="1"/>
                      <a:r>
                        <a:rPr lang="en-IN" sz="2800" kern="1200" dirty="0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Yeast genome completely sequenced</a:t>
                      </a:r>
                      <a:endParaRPr lang="en-IN" sz="2800" b="0" kern="1200" dirty="0">
                        <a:solidFill>
                          <a:schemeClr val="bg1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552164">
                <a:tc>
                  <a:txBody>
                    <a:bodyPr/>
                    <a:lstStyle/>
                    <a:p>
                      <a:pPr marL="0" algn="just" defTabSz="824789" rtl="0" eaLnBrk="1" latinLnBrk="0" hangingPunct="1"/>
                      <a:r>
                        <a:rPr lang="en-AU" sz="2800" kern="1200" dirty="0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1998</a:t>
                      </a:r>
                      <a:endParaRPr lang="en-IN" sz="2800" b="0" kern="1200" dirty="0">
                        <a:solidFill>
                          <a:schemeClr val="bg1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just" defTabSz="824789" rtl="0" eaLnBrk="1" latinLnBrk="0" hangingPunct="1"/>
                      <a:r>
                        <a:rPr lang="en-AU" sz="2800" kern="1200" dirty="0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Worm genome completely sequenced</a:t>
                      </a:r>
                      <a:endParaRPr lang="en-IN" sz="2800" b="0" kern="1200" dirty="0">
                        <a:solidFill>
                          <a:schemeClr val="bg1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552164">
                <a:tc>
                  <a:txBody>
                    <a:bodyPr/>
                    <a:lstStyle/>
                    <a:p>
                      <a:pPr marL="0" algn="just" defTabSz="824789" rtl="0" eaLnBrk="1" latinLnBrk="0" hangingPunct="1"/>
                      <a:r>
                        <a:rPr lang="en-AU" sz="2800" b="0" kern="1200" dirty="0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2001</a:t>
                      </a:r>
                      <a:endParaRPr lang="en-IN" sz="2800" b="0" kern="1200" dirty="0">
                        <a:solidFill>
                          <a:schemeClr val="bg1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just" defTabSz="824789" rtl="0" eaLnBrk="1" latinLnBrk="0" hangingPunct="1"/>
                      <a:r>
                        <a:rPr lang="en-IN" sz="2800" kern="1200" dirty="0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Working draft of the human genome</a:t>
                      </a:r>
                      <a:r>
                        <a:rPr lang="en-IN" sz="2800" kern="1200" baseline="0" dirty="0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                           sequence published.</a:t>
                      </a:r>
                      <a:endParaRPr lang="en-IN" sz="2800" kern="1200" dirty="0">
                        <a:solidFill>
                          <a:schemeClr val="bg1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552164">
                <a:tc>
                  <a:txBody>
                    <a:bodyPr/>
                    <a:lstStyle/>
                    <a:p>
                      <a:pPr marL="0" algn="just" defTabSz="824789" rtl="0" eaLnBrk="1" latinLnBrk="0" hangingPunct="1"/>
                      <a:r>
                        <a:rPr lang="en-AU" sz="2800" b="0" kern="1200" dirty="0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2002</a:t>
                      </a:r>
                      <a:endParaRPr lang="en-IN" sz="2800" b="0" kern="1200" dirty="0">
                        <a:solidFill>
                          <a:schemeClr val="bg1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just" defTabSz="824789" rtl="0" eaLnBrk="1" latinLnBrk="0" hangingPunct="1"/>
                      <a:r>
                        <a:rPr lang="en-AU" sz="2800" kern="1200" dirty="0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First draft of mouse genome</a:t>
                      </a:r>
                    </a:p>
                  </a:txBody>
                  <a:tcPr/>
                </a:tc>
              </a:tr>
              <a:tr h="552164">
                <a:tc>
                  <a:txBody>
                    <a:bodyPr/>
                    <a:lstStyle/>
                    <a:p>
                      <a:pPr marL="0" algn="just" defTabSz="824789" rtl="0" eaLnBrk="1" latinLnBrk="0" hangingPunct="1"/>
                      <a:r>
                        <a:rPr lang="en-AU" sz="2800" b="0" kern="1200" dirty="0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2000+</a:t>
                      </a:r>
                      <a:endParaRPr lang="en-IN" sz="2800" b="0" kern="1200" dirty="0">
                        <a:solidFill>
                          <a:schemeClr val="bg1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just" defTabSz="824789" rtl="0" eaLnBrk="1" latinLnBrk="0" hangingPunct="1"/>
                      <a:r>
                        <a:rPr lang="en-AU" sz="2800" kern="1200" dirty="0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Microarrays,</a:t>
                      </a:r>
                      <a:r>
                        <a:rPr lang="en-AU" sz="2800" kern="1200" baseline="0" dirty="0" smtClean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HTS, NGS ...</a:t>
                      </a:r>
                      <a:endParaRPr lang="en-AU" sz="2800" kern="1200" dirty="0" smtClean="0">
                        <a:solidFill>
                          <a:schemeClr val="bg1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025" y="108422"/>
            <a:ext cx="7826375" cy="108833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AU" sz="5400" dirty="0" smtClean="0"/>
              <a:t>Resource Centres</a:t>
            </a:r>
            <a:endParaRPr lang="en-IN" sz="5400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5075" y="1196752"/>
            <a:ext cx="7551738" cy="5472608"/>
          </a:xfrm>
        </p:spPr>
        <p:txBody>
          <a:bodyPr/>
          <a:lstStyle/>
          <a:p>
            <a:r>
              <a:rPr lang="en-AU" sz="3200" dirty="0" smtClean="0"/>
              <a:t>The National Centre for Biotechnology Information (NCBI)</a:t>
            </a:r>
          </a:p>
          <a:p>
            <a:pPr lvl="1"/>
            <a:r>
              <a:rPr lang="en-AU" sz="2400" dirty="0" smtClean="0"/>
              <a:t>As a part of National Library of Medicine</a:t>
            </a:r>
          </a:p>
          <a:p>
            <a:pPr lvl="1"/>
            <a:r>
              <a:rPr lang="en-AU" sz="2400" dirty="0" smtClean="0"/>
              <a:t>Tools : BLAST, </a:t>
            </a:r>
            <a:r>
              <a:rPr lang="en-AU" sz="2400" dirty="0" err="1" smtClean="0"/>
              <a:t>Entrez</a:t>
            </a:r>
            <a:r>
              <a:rPr lang="en-AU" sz="2400" dirty="0" smtClean="0"/>
              <a:t>, </a:t>
            </a:r>
            <a:r>
              <a:rPr lang="en-AU" sz="2400" dirty="0" err="1" smtClean="0"/>
              <a:t>GenBank</a:t>
            </a:r>
            <a:r>
              <a:rPr lang="en-AU" sz="2400" dirty="0" smtClean="0"/>
              <a:t>, </a:t>
            </a:r>
            <a:r>
              <a:rPr lang="en-AU" sz="2400" dirty="0" err="1" smtClean="0"/>
              <a:t>PubMed</a:t>
            </a:r>
            <a:r>
              <a:rPr lang="en-AU" sz="2400" dirty="0" smtClean="0"/>
              <a:t> </a:t>
            </a:r>
          </a:p>
          <a:p>
            <a:pPr lvl="1"/>
            <a:r>
              <a:rPr lang="en-AU" sz="2400" dirty="0" smtClean="0"/>
              <a:t>Other databases: </a:t>
            </a:r>
            <a:r>
              <a:rPr lang="en-AU" sz="2400" dirty="0" err="1" smtClean="0"/>
              <a:t>dbEST</a:t>
            </a:r>
            <a:r>
              <a:rPr lang="en-AU" sz="2400" dirty="0" smtClean="0"/>
              <a:t>, </a:t>
            </a:r>
            <a:r>
              <a:rPr lang="en-AU" sz="2400" dirty="0" err="1" smtClean="0"/>
              <a:t>dbSNP</a:t>
            </a:r>
            <a:r>
              <a:rPr lang="en-AU" sz="2400" dirty="0" smtClean="0"/>
              <a:t>, </a:t>
            </a:r>
            <a:r>
              <a:rPr lang="en-AU" sz="2400" dirty="0" err="1" smtClean="0"/>
              <a:t>dbSTS</a:t>
            </a:r>
            <a:r>
              <a:rPr lang="en-AU" sz="2400" dirty="0" smtClean="0"/>
              <a:t>, MMDB, </a:t>
            </a:r>
            <a:r>
              <a:rPr lang="en-AU" sz="2400" dirty="0" err="1" smtClean="0"/>
              <a:t>UniGene</a:t>
            </a:r>
            <a:r>
              <a:rPr lang="en-AU" sz="2400" dirty="0" smtClean="0"/>
              <a:t>, SAGE, </a:t>
            </a:r>
            <a:r>
              <a:rPr lang="en-AU" sz="2400" dirty="0" err="1" smtClean="0"/>
              <a:t>LocusLink</a:t>
            </a:r>
            <a:r>
              <a:rPr lang="en-AU" sz="2400" dirty="0" smtClean="0"/>
              <a:t>, </a:t>
            </a:r>
            <a:r>
              <a:rPr lang="en-AU" sz="2400" dirty="0" err="1" smtClean="0"/>
              <a:t>RefSeq</a:t>
            </a:r>
            <a:r>
              <a:rPr lang="en-AU" sz="2400" dirty="0" smtClean="0"/>
              <a:t>, Taxonomy, CGAP, </a:t>
            </a:r>
            <a:r>
              <a:rPr lang="en-AU" sz="2400" dirty="0" err="1" smtClean="0"/>
              <a:t>GeneMap</a:t>
            </a:r>
            <a:endParaRPr lang="en-AU" sz="2400" dirty="0" smtClean="0"/>
          </a:p>
          <a:p>
            <a:r>
              <a:rPr lang="en-AU" sz="3200" dirty="0" smtClean="0"/>
              <a:t>European Bioinformatics Institute (EBI)</a:t>
            </a:r>
          </a:p>
          <a:p>
            <a:pPr lvl="1"/>
            <a:r>
              <a:rPr lang="en-AU" sz="2400" dirty="0" err="1" smtClean="0"/>
              <a:t>ChEMBL</a:t>
            </a:r>
            <a:r>
              <a:rPr lang="en-AU" sz="2400" dirty="0" smtClean="0"/>
              <a:t>, </a:t>
            </a:r>
            <a:r>
              <a:rPr lang="en-AU" sz="2400" dirty="0" err="1" smtClean="0"/>
              <a:t>Ensembl</a:t>
            </a:r>
            <a:r>
              <a:rPr lang="en-AU" sz="2400" dirty="0" smtClean="0"/>
              <a:t>, Enzyme Portal, Europe </a:t>
            </a:r>
            <a:r>
              <a:rPr lang="en-AU" sz="2400" dirty="0" err="1" smtClean="0"/>
              <a:t>PubMed</a:t>
            </a:r>
            <a:r>
              <a:rPr lang="en-AU" sz="2400" dirty="0" smtClean="0"/>
              <a:t>, </a:t>
            </a:r>
            <a:r>
              <a:rPr lang="en-AU" sz="2400" dirty="0" err="1" smtClean="0"/>
              <a:t>IntAct</a:t>
            </a:r>
            <a:r>
              <a:rPr lang="en-AU" sz="2400" dirty="0" smtClean="0"/>
              <a:t>, </a:t>
            </a:r>
            <a:r>
              <a:rPr lang="en-AU" sz="2400" dirty="0" err="1" smtClean="0"/>
              <a:t>Pfam</a:t>
            </a:r>
            <a:r>
              <a:rPr lang="en-AU" sz="2400" dirty="0" smtClean="0"/>
              <a:t>, </a:t>
            </a:r>
            <a:r>
              <a:rPr lang="en-AU" sz="2400" dirty="0" err="1" smtClean="0"/>
              <a:t>WormBase</a:t>
            </a:r>
            <a:r>
              <a:rPr lang="en-AU" sz="2400" dirty="0" smtClean="0"/>
              <a:t>, </a:t>
            </a:r>
            <a:r>
              <a:rPr lang="en-AU" sz="2400" dirty="0" err="1" smtClean="0"/>
              <a:t>UniProt</a:t>
            </a:r>
            <a:endParaRPr lang="en-AU" sz="2400" dirty="0" smtClean="0"/>
          </a:p>
          <a:p>
            <a:pPr lvl="1"/>
            <a:r>
              <a:rPr lang="en-AU" sz="2400" dirty="0" smtClean="0"/>
              <a:t>Tools: FASTA, </a:t>
            </a:r>
            <a:r>
              <a:rPr lang="en-AU" sz="2400" dirty="0" err="1" smtClean="0"/>
              <a:t>InterProScan</a:t>
            </a:r>
            <a:r>
              <a:rPr lang="en-AU" sz="2400" dirty="0" smtClean="0"/>
              <a:t>, </a:t>
            </a:r>
            <a:r>
              <a:rPr lang="en-AU" sz="2400" dirty="0" err="1" smtClean="0"/>
              <a:t>Kalign</a:t>
            </a:r>
            <a:r>
              <a:rPr lang="en-AU" sz="2400" dirty="0" smtClean="0"/>
              <a:t>, </a:t>
            </a:r>
            <a:r>
              <a:rPr lang="en-AU" sz="2400" dirty="0" err="1" smtClean="0"/>
              <a:t>Mafft</a:t>
            </a:r>
            <a:r>
              <a:rPr lang="en-AU" sz="2400" dirty="0" smtClean="0"/>
              <a:t>, T-Coffee</a:t>
            </a:r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946AA9F-1A58-4CB4-B5ED-1949B3D262FD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392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itchFamily="2" charset="-122"/>
              </a:rPr>
              <a:t> </a:t>
            </a:r>
          </a:p>
        </p:txBody>
      </p:sp>
      <p:sp>
        <p:nvSpPr>
          <p:cNvPr id="392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28625" y="1462105"/>
            <a:ext cx="8218488" cy="518160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3600" b="1" dirty="0" smtClean="0">
                <a:solidFill>
                  <a:schemeClr val="bg1">
                    <a:lumMod val="20000"/>
                    <a:lumOff val="80000"/>
                  </a:schemeClr>
                </a:solidFill>
                <a:ea typeface="宋体" pitchFamily="2" charset="-122"/>
              </a:rPr>
              <a:t>	www.ncbi.nlm.nih.gov</a:t>
            </a:r>
            <a:endParaRPr lang="en-US" altLang="zh-CN" sz="3600" b="1" dirty="0">
              <a:solidFill>
                <a:schemeClr val="bg1">
                  <a:lumMod val="20000"/>
                  <a:lumOff val="80000"/>
                </a:schemeClr>
              </a:solidFill>
              <a:ea typeface="宋体" pitchFamily="2" charset="-122"/>
            </a:endParaRPr>
          </a:p>
          <a:p>
            <a:r>
              <a:rPr lang="en-US" altLang="zh-CN" sz="3600" dirty="0">
                <a:ea typeface="宋体" pitchFamily="2" charset="-122"/>
              </a:rPr>
              <a:t>Created in 1988 as part of the National Library of Medicine at </a:t>
            </a:r>
            <a:r>
              <a:rPr lang="en-US" altLang="zh-CN" sz="3600" dirty="0" smtClean="0">
                <a:ea typeface="宋体" pitchFamily="2" charset="-122"/>
              </a:rPr>
              <a:t>NIH</a:t>
            </a:r>
          </a:p>
          <a:p>
            <a:pPr lvl="1"/>
            <a:r>
              <a:rPr lang="en-US" altLang="zh-CN" sz="3200" dirty="0" smtClean="0">
                <a:ea typeface="宋体" pitchFamily="2" charset="-122"/>
              </a:rPr>
              <a:t>Establish public databases</a:t>
            </a:r>
          </a:p>
          <a:p>
            <a:pPr lvl="1"/>
            <a:r>
              <a:rPr lang="en-US" altLang="zh-CN" sz="3200" dirty="0" smtClean="0">
                <a:ea typeface="宋体" pitchFamily="2" charset="-122"/>
              </a:rPr>
              <a:t>Support research in computational biology</a:t>
            </a:r>
          </a:p>
          <a:p>
            <a:pPr lvl="1"/>
            <a:r>
              <a:rPr lang="en-US" altLang="en-US" sz="3200" dirty="0" smtClean="0">
                <a:ea typeface="宋体" pitchFamily="2" charset="-122"/>
              </a:rPr>
              <a:t>Develop software tools for sequence analysis</a:t>
            </a:r>
          </a:p>
          <a:p>
            <a:pPr lvl="1"/>
            <a:r>
              <a:rPr lang="en-US" altLang="en-US" sz="3200" dirty="0" smtClean="0">
                <a:ea typeface="宋体" pitchFamily="2" charset="-122"/>
              </a:rPr>
              <a:t>Disseminate biomedical information </a:t>
            </a:r>
            <a:endParaRPr lang="en-US" altLang="en-US" sz="3200" dirty="0" smtClean="0"/>
          </a:p>
        </p:txBody>
      </p:sp>
      <p:pic>
        <p:nvPicPr>
          <p:cNvPr id="392196" name="Picture 4" descr="ncbi_masthead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475524" y="519113"/>
            <a:ext cx="8454194" cy="838185"/>
          </a:xfrm>
          <a:noFill/>
          <a:ln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EC9880-F7C3-42E1-AD5D-2664DBC28F9F}" type="slidenum">
              <a:rPr lang="en-US" altLang="en-US"/>
              <a:pPr/>
              <a:t>8</a:t>
            </a:fld>
            <a:endParaRPr lang="en-US" altLang="en-US"/>
          </a:p>
        </p:txBody>
      </p:sp>
      <p:pic>
        <p:nvPicPr>
          <p:cNvPr id="394243" name="Picture 3" descr="ncbi_sitemap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71406" y="71414"/>
            <a:ext cx="9001156" cy="6705165"/>
          </a:xfrm>
          <a:noFill/>
          <a:ln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AU" sz="5400" dirty="0" smtClean="0"/>
              <a:t>What are databases?</a:t>
            </a:r>
            <a:endParaRPr lang="en-IN" sz="5400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z="3200" dirty="0" smtClean="0"/>
              <a:t>Structured collection of data is called database</a:t>
            </a:r>
          </a:p>
          <a:p>
            <a:pPr lvl="1" algn="just"/>
            <a:r>
              <a:rPr lang="en-AU" sz="2400" dirty="0" smtClean="0"/>
              <a:t>Consist of basic units called record or entries</a:t>
            </a:r>
          </a:p>
          <a:p>
            <a:pPr lvl="1" algn="just"/>
            <a:r>
              <a:rPr lang="en-AU" sz="2400" dirty="0" smtClean="0"/>
              <a:t>Each record consist of fields, which hold predefined data related to the record</a:t>
            </a:r>
          </a:p>
          <a:p>
            <a:pPr lvl="1" algn="just"/>
            <a:r>
              <a:rPr lang="en-IN" sz="2400" dirty="0" smtClean="0"/>
              <a:t>Database management systems (DBMSs) are specially designed applications that interact with the user and database itself to capture and analyze data</a:t>
            </a:r>
          </a:p>
          <a:p>
            <a:pPr lvl="1" algn="just"/>
            <a:r>
              <a:rPr lang="en-IN" sz="2400" dirty="0" smtClean="0"/>
              <a:t>Well-known DBMSs include </a:t>
            </a:r>
            <a:r>
              <a:rPr lang="en-IN" sz="2400" dirty="0" err="1" smtClean="0"/>
              <a:t>MySQL</a:t>
            </a:r>
            <a:r>
              <a:rPr lang="en-IN" sz="2400" dirty="0" smtClean="0"/>
              <a:t>, </a:t>
            </a:r>
            <a:r>
              <a:rPr lang="en-IN" sz="2400" dirty="0" err="1" smtClean="0"/>
              <a:t>PostgreSQL</a:t>
            </a:r>
            <a:r>
              <a:rPr lang="en-IN" sz="2400" dirty="0" smtClean="0"/>
              <a:t>, </a:t>
            </a:r>
            <a:r>
              <a:rPr lang="en-IN" sz="2400" dirty="0" err="1" smtClean="0"/>
              <a:t>SQLite</a:t>
            </a:r>
            <a:r>
              <a:rPr lang="en-IN" sz="2400" dirty="0" smtClean="0"/>
              <a:t>, Microsoft SQL Server, </a:t>
            </a:r>
            <a:r>
              <a:rPr lang="en-IN" sz="2400" dirty="0" err="1" smtClean="0"/>
              <a:t>Mircosoft</a:t>
            </a:r>
            <a:r>
              <a:rPr lang="en-IN" sz="2400" dirty="0" smtClean="0"/>
              <a:t> Access and Oracle</a:t>
            </a:r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5400" dirty="0" smtClean="0"/>
              <a:t>Database illustration</a:t>
            </a:r>
            <a:endParaRPr lang="en-IN" sz="5400" dirty="0" smtClean="0"/>
          </a:p>
        </p:txBody>
      </p:sp>
      <p:grpSp>
        <p:nvGrpSpPr>
          <p:cNvPr id="3" name="Group 39"/>
          <p:cNvGrpSpPr/>
          <p:nvPr/>
        </p:nvGrpSpPr>
        <p:grpSpPr>
          <a:xfrm>
            <a:off x="1214414" y="2071678"/>
            <a:ext cx="4252939" cy="4214842"/>
            <a:chOff x="1214414" y="2071678"/>
            <a:chExt cx="4252939" cy="4214842"/>
          </a:xfrm>
        </p:grpSpPr>
        <p:sp>
          <p:nvSpPr>
            <p:cNvPr id="4" name="Rectangle 3"/>
            <p:cNvSpPr/>
            <p:nvPr/>
          </p:nvSpPr>
          <p:spPr bwMode="auto">
            <a:xfrm>
              <a:off x="1214414" y="4000504"/>
              <a:ext cx="3571900" cy="2286016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Query system</a:t>
              </a:r>
              <a:endParaRPr kumimoji="0" lang="en-I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" name="Text Box 18"/>
            <p:cNvSpPr txBox="1">
              <a:spLocks noChangeArrowheads="1"/>
            </p:cNvSpPr>
            <p:nvPr/>
          </p:nvSpPr>
          <p:spPr bwMode="auto">
            <a:xfrm>
              <a:off x="1974853" y="2071678"/>
              <a:ext cx="3025775" cy="1446550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dirty="0" smtClean="0">
                  <a:effectLst/>
                  <a:latin typeface="Tahoma" pitchFamily="34" charset="0"/>
                  <a:ea typeface="宋体" pitchFamily="2" charset="-122"/>
                </a:rPr>
                <a:t>A catalogue</a:t>
              </a:r>
            </a:p>
            <a:p>
              <a:pPr eaLnBrk="1" hangingPunct="1"/>
              <a:r>
                <a:rPr lang="en-US" altLang="zh-CN" dirty="0" smtClean="0">
                  <a:effectLst/>
                  <a:latin typeface="Tahoma" pitchFamily="34" charset="0"/>
                  <a:ea typeface="宋体" pitchFamily="2" charset="-122"/>
                </a:rPr>
                <a:t>Indexed files</a:t>
              </a:r>
            </a:p>
            <a:p>
              <a:pPr eaLnBrk="1" hangingPunct="1"/>
              <a:r>
                <a:rPr lang="en-US" altLang="zh-CN" dirty="0" smtClean="0">
                  <a:effectLst/>
                  <a:latin typeface="Tahoma" pitchFamily="34" charset="0"/>
                  <a:ea typeface="宋体" pitchFamily="2" charset="-122"/>
                </a:rPr>
                <a:t>SQL </a:t>
              </a:r>
            </a:p>
            <a:p>
              <a:pPr eaLnBrk="1" hangingPunct="1"/>
              <a:r>
                <a:rPr lang="en-US" altLang="zh-CN" dirty="0" err="1" smtClean="0">
                  <a:effectLst/>
                  <a:latin typeface="Tahoma" pitchFamily="34" charset="0"/>
                  <a:ea typeface="宋体" pitchFamily="2" charset="-122"/>
                </a:rPr>
                <a:t>Grep</a:t>
              </a:r>
              <a:endParaRPr lang="zh-CN" altLang="en-US" dirty="0" smtClean="0"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28" name="Line 9"/>
            <p:cNvSpPr>
              <a:spLocks noChangeShapeType="1"/>
            </p:cNvSpPr>
            <p:nvPr/>
          </p:nvSpPr>
          <p:spPr bwMode="auto">
            <a:xfrm rot="10800000">
              <a:off x="5002876" y="2769861"/>
              <a:ext cx="432000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IN">
                <a:effectLst/>
              </a:endParaRPr>
            </a:p>
          </p:txBody>
        </p:sp>
        <p:sp>
          <p:nvSpPr>
            <p:cNvPr id="29" name="Line 10"/>
            <p:cNvSpPr>
              <a:spLocks noChangeShapeType="1"/>
            </p:cNvSpPr>
            <p:nvPr/>
          </p:nvSpPr>
          <p:spPr bwMode="auto">
            <a:xfrm rot="10800000">
              <a:off x="4857753" y="4286255"/>
              <a:ext cx="609600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IN">
                <a:effectLst/>
              </a:endParaRPr>
            </a:p>
          </p:txBody>
        </p:sp>
        <p:sp>
          <p:nvSpPr>
            <p:cNvPr id="30" name="Line 11"/>
            <p:cNvSpPr>
              <a:spLocks noChangeShapeType="1"/>
            </p:cNvSpPr>
            <p:nvPr/>
          </p:nvSpPr>
          <p:spPr bwMode="auto">
            <a:xfrm rot="10800000">
              <a:off x="5453705" y="2762255"/>
              <a:ext cx="0" cy="152400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IN">
                <a:effectLst/>
              </a:endParaRPr>
            </a:p>
          </p:txBody>
        </p:sp>
      </p:grpSp>
      <p:grpSp>
        <p:nvGrpSpPr>
          <p:cNvPr id="7" name="Group 38"/>
          <p:cNvGrpSpPr/>
          <p:nvPr/>
        </p:nvGrpSpPr>
        <p:grpSpPr>
          <a:xfrm>
            <a:off x="1285852" y="2715466"/>
            <a:ext cx="7572428" cy="3499616"/>
            <a:chOff x="1285852" y="2715466"/>
            <a:chExt cx="7572428" cy="3499616"/>
          </a:xfrm>
        </p:grpSpPr>
        <p:sp>
          <p:nvSpPr>
            <p:cNvPr id="24" name="Line 10"/>
            <p:cNvSpPr>
              <a:spLocks noChangeShapeType="1"/>
            </p:cNvSpPr>
            <p:nvPr/>
          </p:nvSpPr>
          <p:spPr bwMode="auto">
            <a:xfrm>
              <a:off x="5214942" y="3762388"/>
              <a:ext cx="609600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IN">
                <a:effectLst/>
              </a:endParaRPr>
            </a:p>
          </p:txBody>
        </p:sp>
        <p:sp>
          <p:nvSpPr>
            <p:cNvPr id="5" name="Rectangle 4"/>
            <p:cNvSpPr/>
            <p:nvPr/>
          </p:nvSpPr>
          <p:spPr bwMode="auto">
            <a:xfrm>
              <a:off x="1285852" y="4786322"/>
              <a:ext cx="2428892" cy="1428760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 smtClean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latin typeface="Arial" charset="0"/>
                </a:rPr>
                <a:t>Storage</a:t>
              </a:r>
              <a:r>
                <a:rPr kumimoji="0" lang="en-US" sz="2400" b="0" i="0" u="none" strike="noStrike" cap="none" normalizeH="0" dirty="0" smtClean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latin typeface="Arial" charset="0"/>
                </a:rPr>
                <a:t> system</a:t>
              </a:r>
              <a:endParaRPr kumimoji="0" lang="en-IN" sz="2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charset="0"/>
              </a:endParaRPr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5832505" y="2715466"/>
              <a:ext cx="3025775" cy="1785104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r>
                <a:rPr lang="en-US" altLang="zh-CN" dirty="0" smtClean="0">
                  <a:effectLst/>
                  <a:latin typeface="Tahoma" pitchFamily="34" charset="0"/>
                  <a:ea typeface="宋体" pitchFamily="2" charset="-122"/>
                </a:rPr>
                <a:t>Oracle</a:t>
              </a:r>
            </a:p>
            <a:p>
              <a:r>
                <a:rPr lang="en-US" altLang="zh-CN" dirty="0" err="1" smtClean="0">
                  <a:effectLst/>
                  <a:latin typeface="Tahoma" pitchFamily="34" charset="0"/>
                  <a:ea typeface="宋体" pitchFamily="2" charset="-122"/>
                </a:rPr>
                <a:t>MySQL</a:t>
              </a:r>
              <a:endParaRPr lang="en-US" altLang="zh-CN" dirty="0" smtClean="0">
                <a:effectLst/>
                <a:latin typeface="Tahoma" pitchFamily="34" charset="0"/>
                <a:ea typeface="宋体" pitchFamily="2" charset="-122"/>
              </a:endParaRPr>
            </a:p>
            <a:p>
              <a:r>
                <a:rPr lang="en-US" altLang="zh-CN" dirty="0" err="1" smtClean="0">
                  <a:effectLst/>
                  <a:latin typeface="Tahoma" pitchFamily="34" charset="0"/>
                  <a:ea typeface="宋体" pitchFamily="2" charset="-122"/>
                </a:rPr>
                <a:t>SQLite</a:t>
              </a:r>
              <a:endParaRPr lang="en-US" altLang="zh-CN" dirty="0" smtClean="0">
                <a:effectLst/>
                <a:latin typeface="Tahoma" pitchFamily="34" charset="0"/>
                <a:ea typeface="宋体" pitchFamily="2" charset="-122"/>
              </a:endParaRPr>
            </a:p>
            <a:p>
              <a:r>
                <a:rPr lang="en-US" altLang="zh-CN" dirty="0" smtClean="0">
                  <a:effectLst/>
                  <a:latin typeface="Tahoma" pitchFamily="34" charset="0"/>
                  <a:ea typeface="宋体" pitchFamily="2" charset="-122"/>
                </a:rPr>
                <a:t>MS Access</a:t>
              </a:r>
            </a:p>
            <a:p>
              <a:r>
                <a:rPr lang="en-US" altLang="zh-CN" dirty="0" smtClean="0">
                  <a:effectLst/>
                  <a:latin typeface="Tahoma" pitchFamily="34" charset="0"/>
                  <a:ea typeface="宋体" pitchFamily="2" charset="-122"/>
                </a:rPr>
                <a:t>Unix text files</a:t>
              </a:r>
              <a:endParaRPr lang="zh-CN" altLang="en-US" dirty="0" smtClean="0"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23" name="Line 9"/>
            <p:cNvSpPr>
              <a:spLocks noChangeShapeType="1"/>
            </p:cNvSpPr>
            <p:nvPr/>
          </p:nvSpPr>
          <p:spPr bwMode="auto">
            <a:xfrm>
              <a:off x="3786182" y="5278782"/>
              <a:ext cx="1440000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IN">
                <a:effectLst/>
              </a:endParaRPr>
            </a:p>
          </p:txBody>
        </p:sp>
        <p:sp>
          <p:nvSpPr>
            <p:cNvPr id="25" name="Line 11"/>
            <p:cNvSpPr>
              <a:spLocks noChangeShapeType="1"/>
            </p:cNvSpPr>
            <p:nvPr/>
          </p:nvSpPr>
          <p:spPr bwMode="auto">
            <a:xfrm>
              <a:off x="5228590" y="3762388"/>
              <a:ext cx="0" cy="152400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IN">
                <a:effectLst/>
              </a:endParaRPr>
            </a:p>
          </p:txBody>
        </p:sp>
      </p:grpSp>
      <p:grpSp>
        <p:nvGrpSpPr>
          <p:cNvPr id="8" name="Group 35"/>
          <p:cNvGrpSpPr/>
          <p:nvPr/>
        </p:nvGrpSpPr>
        <p:grpSpPr>
          <a:xfrm>
            <a:off x="1357290" y="4554218"/>
            <a:ext cx="7500990" cy="1589426"/>
            <a:chOff x="1357290" y="4554218"/>
            <a:chExt cx="7500990" cy="1589426"/>
          </a:xfrm>
        </p:grpSpPr>
        <p:sp>
          <p:nvSpPr>
            <p:cNvPr id="6" name="Rectangle 5"/>
            <p:cNvSpPr/>
            <p:nvPr/>
          </p:nvSpPr>
          <p:spPr bwMode="auto">
            <a:xfrm>
              <a:off x="1357290" y="5429264"/>
              <a:ext cx="1357322" cy="71438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Data</a:t>
              </a:r>
              <a:endParaRPr kumimoji="0" lang="en-I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2751167" y="5786454"/>
              <a:ext cx="2819400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IN">
                <a:effectLst/>
              </a:endParaRPr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>
              <a:off x="5556919" y="4799970"/>
              <a:ext cx="756000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IN">
                <a:effectLst/>
              </a:endParaRPr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>
              <a:off x="5570567" y="4814454"/>
              <a:ext cx="0" cy="97200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IN">
                <a:effectLst/>
              </a:endParaRPr>
            </a:p>
          </p:txBody>
        </p:sp>
        <p:sp>
          <p:nvSpPr>
            <p:cNvPr id="10" name="Text Box 12"/>
            <p:cNvSpPr txBox="1">
              <a:spLocks noChangeArrowheads="1"/>
            </p:cNvSpPr>
            <p:nvPr/>
          </p:nvSpPr>
          <p:spPr bwMode="auto">
            <a:xfrm>
              <a:off x="6362084" y="4554218"/>
              <a:ext cx="2496196" cy="14465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dirty="0" err="1" smtClean="0">
                  <a:effectLst/>
                  <a:latin typeface="Tahoma" pitchFamily="34" charset="0"/>
                  <a:ea typeface="宋体" pitchFamily="2" charset="-122"/>
                </a:rPr>
                <a:t>GenBank</a:t>
              </a:r>
              <a:r>
                <a:rPr lang="en-US" altLang="zh-CN" dirty="0" smtClean="0">
                  <a:effectLst/>
                  <a:latin typeface="Tahoma" pitchFamily="34" charset="0"/>
                  <a:ea typeface="宋体" pitchFamily="2" charset="-122"/>
                </a:rPr>
                <a:t> </a:t>
              </a:r>
              <a:r>
                <a:rPr lang="en-US" altLang="zh-CN" dirty="0">
                  <a:effectLst/>
                  <a:latin typeface="Tahoma" pitchFamily="34" charset="0"/>
                  <a:ea typeface="宋体" pitchFamily="2" charset="-122"/>
                </a:rPr>
                <a:t>flat file   </a:t>
              </a:r>
            </a:p>
            <a:p>
              <a:pPr eaLnBrk="1" hangingPunct="1"/>
              <a:r>
                <a:rPr lang="en-US" altLang="zh-CN" dirty="0">
                  <a:effectLst/>
                  <a:latin typeface="Tahoma" pitchFamily="34" charset="0"/>
                  <a:ea typeface="宋体" pitchFamily="2" charset="-122"/>
                </a:rPr>
                <a:t>PDB file</a:t>
              </a:r>
            </a:p>
            <a:p>
              <a:pPr eaLnBrk="1" hangingPunct="1"/>
              <a:r>
                <a:rPr lang="en-US" altLang="zh-CN" dirty="0" smtClean="0">
                  <a:effectLst/>
                  <a:latin typeface="Tahoma" pitchFamily="34" charset="0"/>
                  <a:ea typeface="宋体" pitchFamily="2" charset="-122"/>
                </a:rPr>
                <a:t>EMBL file</a:t>
              </a:r>
            </a:p>
            <a:p>
              <a:pPr eaLnBrk="1" hangingPunct="1"/>
              <a:r>
                <a:rPr lang="en-US" altLang="zh-CN" dirty="0" smtClean="0">
                  <a:effectLst/>
                  <a:latin typeface="Tahoma" pitchFamily="34" charset="0"/>
                  <a:ea typeface="宋体" pitchFamily="2" charset="-122"/>
                </a:rPr>
                <a:t>Book</a:t>
              </a:r>
              <a:endParaRPr lang="zh-CN" altLang="en-US" dirty="0">
                <a:effectLst/>
                <a:latin typeface="Tahoma" pitchFamily="34" charset="0"/>
                <a:ea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 cstate="print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962025" y="285728"/>
            <a:ext cx="7826375" cy="1219185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ctr" anchorCtr="0" compatLnSpc="1">
            <a:prstTxWarp prst="textNoShape">
              <a:avLst/>
            </a:prstTxWarp>
          </a:bodyPr>
          <a:lstStyle/>
          <a:p>
            <a:pPr algn="ctr" defTabSz="762000"/>
            <a:r>
              <a:rPr lang="fr-CH" sz="4800" dirty="0" err="1" smtClean="0">
                <a:solidFill>
                  <a:schemeClr val="tx1"/>
                </a:solidFill>
              </a:rPr>
              <a:t>Databases</a:t>
            </a:r>
            <a:r>
              <a:rPr lang="fr-CH" sz="4800" dirty="0" smtClean="0">
                <a:solidFill>
                  <a:schemeClr val="tx1"/>
                </a:solidFill>
              </a:rPr>
              <a:t>: an simple </a:t>
            </a:r>
            <a:r>
              <a:rPr lang="fr-CH" sz="4800" dirty="0" err="1" smtClean="0">
                <a:solidFill>
                  <a:schemeClr val="tx1"/>
                </a:solidFill>
              </a:rPr>
              <a:t>example</a:t>
            </a:r>
            <a:endParaRPr lang="en-GB" sz="4800" dirty="0" smtClean="0">
              <a:solidFill>
                <a:schemeClr val="tx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 t="40969" r="31655" b="6250"/>
          <a:stretch>
            <a:fillRect/>
          </a:stretch>
        </p:blipFill>
        <p:spPr bwMode="auto">
          <a:xfrm>
            <a:off x="144016" y="1700808"/>
            <a:ext cx="8892480" cy="4995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 t="64219" r="31655" b="6250"/>
          <a:stretch>
            <a:fillRect/>
          </a:stretch>
        </p:blipFill>
        <p:spPr bwMode="auto">
          <a:xfrm>
            <a:off x="179512" y="4581128"/>
            <a:ext cx="8892480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AU" sz="5400" dirty="0" smtClean="0"/>
              <a:t>Biological Databases</a:t>
            </a:r>
            <a:endParaRPr lang="en-IN" sz="5400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z="3200" dirty="0" smtClean="0"/>
              <a:t>Primary databases</a:t>
            </a:r>
          </a:p>
          <a:p>
            <a:pPr lvl="1"/>
            <a:r>
              <a:rPr lang="en-AU" sz="2400" dirty="0" smtClean="0"/>
              <a:t>Original submission by experimentalists </a:t>
            </a:r>
          </a:p>
          <a:p>
            <a:pPr lvl="1"/>
            <a:r>
              <a:rPr lang="en-AU" sz="2400" dirty="0" smtClean="0"/>
              <a:t>Content is controlled by submitter</a:t>
            </a:r>
          </a:p>
          <a:p>
            <a:pPr lvl="1"/>
            <a:r>
              <a:rPr lang="en-AU" sz="2400" dirty="0" smtClean="0"/>
              <a:t>Example: </a:t>
            </a:r>
            <a:r>
              <a:rPr lang="en-AU" sz="2400" dirty="0" err="1" smtClean="0"/>
              <a:t>GenBank</a:t>
            </a:r>
            <a:r>
              <a:rPr lang="en-AU" sz="2400" dirty="0" smtClean="0"/>
              <a:t>, DDBJ, EMBL, PIR, SNP</a:t>
            </a:r>
          </a:p>
          <a:p>
            <a:pPr marL="341313" lvl="1" indent="-341313">
              <a:buChar char="•"/>
            </a:pPr>
            <a:r>
              <a:rPr lang="en-AU" sz="3200" dirty="0" smtClean="0">
                <a:ea typeface="+mn-ea"/>
                <a:cs typeface="+mn-cs"/>
              </a:rPr>
              <a:t>Derivative databases</a:t>
            </a:r>
          </a:p>
          <a:p>
            <a:pPr lvl="1"/>
            <a:r>
              <a:rPr lang="en-AU" sz="2400" dirty="0" smtClean="0"/>
              <a:t>Human </a:t>
            </a:r>
            <a:r>
              <a:rPr lang="en-AU" sz="2400" dirty="0" err="1" smtClean="0"/>
              <a:t>curated</a:t>
            </a:r>
            <a:endParaRPr lang="en-AU" sz="2400" dirty="0" smtClean="0"/>
          </a:p>
          <a:p>
            <a:pPr lvl="1"/>
            <a:r>
              <a:rPr lang="en-AU" sz="2400" dirty="0" smtClean="0"/>
              <a:t>Example: SWISS-PROT, NCBI </a:t>
            </a:r>
            <a:r>
              <a:rPr lang="en-AU" sz="2400" dirty="0" err="1" smtClean="0"/>
              <a:t>ReFSeq</a:t>
            </a:r>
            <a:r>
              <a:rPr lang="en-AU" sz="2400" dirty="0" smtClean="0"/>
              <a:t>, GEO datasets</a:t>
            </a:r>
          </a:p>
          <a:p>
            <a:pPr marL="341313" lvl="1" indent="-341313">
              <a:buChar char="•"/>
            </a:pPr>
            <a:r>
              <a:rPr lang="en-AU" sz="3200" dirty="0" smtClean="0">
                <a:ea typeface="+mn-ea"/>
                <a:cs typeface="+mn-cs"/>
              </a:rPr>
              <a:t>Computationally derived</a:t>
            </a:r>
          </a:p>
          <a:p>
            <a:pPr lvl="1"/>
            <a:r>
              <a:rPr lang="en-AU" sz="2400" dirty="0" smtClean="0"/>
              <a:t>Example: </a:t>
            </a:r>
            <a:r>
              <a:rPr lang="en-AU" sz="2400" dirty="0" err="1" smtClean="0"/>
              <a:t>UniGene</a:t>
            </a:r>
            <a:r>
              <a:rPr lang="en-AU" sz="2400" dirty="0" smtClean="0"/>
              <a:t>, </a:t>
            </a:r>
            <a:r>
              <a:rPr lang="en-AU" sz="2400" dirty="0" err="1" smtClean="0"/>
              <a:t>TrEMBL</a:t>
            </a:r>
            <a:endParaRPr lang="en-IN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2746392"/>
            <a:ext cx="8429684" cy="3897318"/>
          </a:xfrm>
        </p:spPr>
        <p:txBody>
          <a:bodyPr/>
          <a:lstStyle/>
          <a:p>
            <a:r>
              <a:rPr lang="en-IN" sz="3200" dirty="0" smtClean="0">
                <a:solidFill>
                  <a:schemeClr val="tx1"/>
                </a:solidFill>
              </a:rPr>
              <a:t>The Molecular Biology Database Collection: 2003 update</a:t>
            </a:r>
          </a:p>
          <a:p>
            <a:pPr lvl="1"/>
            <a:r>
              <a:rPr lang="en-IN" sz="2800" u="sng" dirty="0" smtClean="0">
                <a:solidFill>
                  <a:schemeClr val="tx1"/>
                </a:solidFill>
              </a:rPr>
              <a:t>Andreas D. </a:t>
            </a:r>
            <a:r>
              <a:rPr lang="en-IN" sz="2800" u="sng" dirty="0" err="1" smtClean="0">
                <a:solidFill>
                  <a:schemeClr val="tx1"/>
                </a:solidFill>
              </a:rPr>
              <a:t>Baxevanis</a:t>
            </a:r>
            <a:endParaRPr lang="en-IN" sz="2800" u="sng" dirty="0" smtClean="0">
              <a:solidFill>
                <a:schemeClr val="tx1"/>
              </a:solidFill>
            </a:endParaRPr>
          </a:p>
          <a:p>
            <a:pPr marL="341313" lvl="1" indent="-341313">
              <a:buChar char="•"/>
            </a:pPr>
            <a:r>
              <a:rPr lang="en-IN" sz="3200" dirty="0" smtClean="0">
                <a:solidFill>
                  <a:schemeClr val="tx1"/>
                </a:solidFill>
                <a:ea typeface="+mn-ea"/>
                <a:cs typeface="+mn-cs"/>
              </a:rPr>
              <a:t>The 2013 Nucleic Acids Research Database Issue and the online Molecular Biology Database Collection</a:t>
            </a:r>
          </a:p>
          <a:p>
            <a:pPr lvl="1"/>
            <a:r>
              <a:rPr lang="en-US" sz="2800" u="sng" dirty="0" err="1" smtClean="0">
                <a:solidFill>
                  <a:schemeClr val="tx1"/>
                </a:solidFill>
              </a:rPr>
              <a:t>Galperin</a:t>
            </a:r>
            <a:r>
              <a:rPr lang="en-US" sz="2800" u="sng" dirty="0" smtClean="0">
                <a:solidFill>
                  <a:schemeClr val="tx1"/>
                </a:solidFill>
              </a:rPr>
              <a:t> </a:t>
            </a:r>
            <a:r>
              <a:rPr lang="en-US" sz="2800" i="1" u="sng" dirty="0" smtClean="0">
                <a:solidFill>
                  <a:schemeClr val="tx1"/>
                </a:solidFill>
              </a:rPr>
              <a:t>et al.</a:t>
            </a:r>
            <a:endParaRPr lang="en-IN" sz="2800" i="1" u="sng" dirty="0" smtClean="0">
              <a:solidFill>
                <a:schemeClr val="tx1"/>
              </a:solidFill>
            </a:endParaRPr>
          </a:p>
          <a:p>
            <a:pPr lvl="1"/>
            <a:endParaRPr lang="en-IN" dirty="0" smtClean="0">
              <a:solidFill>
                <a:schemeClr val="tx1"/>
              </a:solidFill>
            </a:endParaRPr>
          </a:p>
          <a:p>
            <a:pPr lvl="1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42844" y="71414"/>
            <a:ext cx="6000792" cy="2571768"/>
          </a:xfrm>
        </p:spPr>
        <p:txBody>
          <a:bodyPr/>
          <a:lstStyle/>
          <a:p>
            <a:r>
              <a:rPr lang="en-US" sz="5400" dirty="0" smtClean="0">
                <a:solidFill>
                  <a:schemeClr val="tx1"/>
                </a:solidFill>
              </a:rPr>
              <a:t>Nucleic Acids Research Database issue</a:t>
            </a:r>
            <a:endParaRPr lang="en-IN" sz="5400" dirty="0">
              <a:solidFill>
                <a:schemeClr val="tx1"/>
              </a:solidFill>
            </a:endParaRPr>
          </a:p>
        </p:txBody>
      </p:sp>
      <p:pic>
        <p:nvPicPr>
          <p:cNvPr id="5" name="Picture 4" descr="cover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29454" y="-24"/>
            <a:ext cx="2214578" cy="2859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 cstate="print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025" y="116632"/>
            <a:ext cx="7826375" cy="1130647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AU" sz="4800" dirty="0" smtClean="0">
                <a:solidFill>
                  <a:schemeClr val="tx1"/>
                </a:solidFill>
              </a:rPr>
              <a:t>Primary VS Derivative Databases</a:t>
            </a:r>
            <a:endParaRPr lang="en-IN" sz="4800" dirty="0" smtClean="0">
              <a:solidFill>
                <a:schemeClr val="tx1"/>
              </a:solidFill>
            </a:endParaRPr>
          </a:p>
        </p:txBody>
      </p:sp>
      <p:grpSp>
        <p:nvGrpSpPr>
          <p:cNvPr id="113" name="Group 112"/>
          <p:cNvGrpSpPr/>
          <p:nvPr/>
        </p:nvGrpSpPr>
        <p:grpSpPr>
          <a:xfrm>
            <a:off x="166688" y="1196975"/>
            <a:ext cx="4560887" cy="5310188"/>
            <a:chOff x="166688" y="1196975"/>
            <a:chExt cx="4560887" cy="5310188"/>
          </a:xfrm>
        </p:grpSpPr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166688" y="1196975"/>
              <a:ext cx="4560887" cy="5310188"/>
              <a:chOff x="105" y="754"/>
              <a:chExt cx="2873" cy="3345"/>
            </a:xfrm>
          </p:grpSpPr>
          <p:grpSp>
            <p:nvGrpSpPr>
              <p:cNvPr id="5" name="Group 9"/>
              <p:cNvGrpSpPr>
                <a:grpSpLocks/>
              </p:cNvGrpSpPr>
              <p:nvPr/>
            </p:nvGrpSpPr>
            <p:grpSpPr bwMode="auto">
              <a:xfrm>
                <a:off x="105" y="3224"/>
                <a:ext cx="686" cy="875"/>
                <a:chOff x="105" y="3314"/>
                <a:chExt cx="686" cy="875"/>
              </a:xfrm>
            </p:grpSpPr>
            <p:sp>
              <p:nvSpPr>
                <p:cNvPr id="60" name="Text Box 10"/>
                <p:cNvSpPr txBox="1">
                  <a:spLocks noChangeArrowheads="1"/>
                </p:cNvSpPr>
                <p:nvPr/>
              </p:nvSpPr>
              <p:spPr bwMode="auto">
                <a:xfrm rot="-9109671">
                  <a:off x="425" y="3314"/>
                  <a:ext cx="270" cy="21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1">
                      <a:latin typeface="Courier New" charset="0"/>
                    </a:rPr>
                    <a:t>GA</a:t>
                  </a:r>
                </a:p>
              </p:txBody>
            </p:sp>
            <p:sp>
              <p:nvSpPr>
                <p:cNvPr id="61" name="Text Box 11"/>
                <p:cNvSpPr txBox="1">
                  <a:spLocks noChangeArrowheads="1"/>
                </p:cNvSpPr>
                <p:nvPr/>
              </p:nvSpPr>
              <p:spPr bwMode="auto">
                <a:xfrm rot="-9109671">
                  <a:off x="521" y="3867"/>
                  <a:ext cx="270" cy="21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1">
                      <a:latin typeface="Courier New" charset="0"/>
                    </a:rPr>
                    <a:t>GA</a:t>
                  </a:r>
                </a:p>
              </p:txBody>
            </p:sp>
            <p:sp>
              <p:nvSpPr>
                <p:cNvPr id="62" name="Text Box 12"/>
                <p:cNvSpPr txBox="1">
                  <a:spLocks noChangeArrowheads="1"/>
                </p:cNvSpPr>
                <p:nvPr/>
              </p:nvSpPr>
              <p:spPr bwMode="auto">
                <a:xfrm rot="-9109671">
                  <a:off x="377" y="3867"/>
                  <a:ext cx="270" cy="21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1">
                      <a:latin typeface="Courier New" charset="0"/>
                    </a:rPr>
                    <a:t>GA</a:t>
                  </a:r>
                </a:p>
              </p:txBody>
            </p:sp>
            <p:sp>
              <p:nvSpPr>
                <p:cNvPr id="63" name="Text Box 13"/>
                <p:cNvSpPr txBox="1">
                  <a:spLocks noChangeArrowheads="1"/>
                </p:cNvSpPr>
                <p:nvPr/>
              </p:nvSpPr>
              <p:spPr bwMode="auto">
                <a:xfrm rot="-2394074">
                  <a:off x="393" y="3882"/>
                  <a:ext cx="347" cy="21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1">
                      <a:latin typeface="Courier New" charset="0"/>
                    </a:rPr>
                    <a:t>ATT</a:t>
                  </a:r>
                </a:p>
              </p:txBody>
            </p:sp>
            <p:sp>
              <p:nvSpPr>
                <p:cNvPr id="64" name="Text Box 14"/>
                <p:cNvSpPr txBox="1">
                  <a:spLocks noChangeArrowheads="1"/>
                </p:cNvSpPr>
                <p:nvPr/>
              </p:nvSpPr>
              <p:spPr bwMode="auto">
                <a:xfrm rot="-2394074">
                  <a:off x="249" y="3854"/>
                  <a:ext cx="347" cy="21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1">
                      <a:latin typeface="Courier New" charset="0"/>
                    </a:rPr>
                    <a:t>ATT</a:t>
                  </a:r>
                </a:p>
              </p:txBody>
            </p:sp>
            <p:sp>
              <p:nvSpPr>
                <p:cNvPr id="65" name="Text Box 15"/>
                <p:cNvSpPr txBox="1">
                  <a:spLocks noChangeArrowheads="1"/>
                </p:cNvSpPr>
                <p:nvPr/>
              </p:nvSpPr>
              <p:spPr bwMode="auto">
                <a:xfrm rot="-2394074">
                  <a:off x="521" y="3929"/>
                  <a:ext cx="193" cy="21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1">
                      <a:latin typeface="Courier New" charset="0"/>
                    </a:rPr>
                    <a:t>C</a:t>
                  </a:r>
                </a:p>
              </p:txBody>
            </p:sp>
            <p:sp>
              <p:nvSpPr>
                <p:cNvPr id="66" name="Text Box 16"/>
                <p:cNvSpPr txBox="1">
                  <a:spLocks noChangeArrowheads="1"/>
                </p:cNvSpPr>
                <p:nvPr/>
              </p:nvSpPr>
              <p:spPr bwMode="auto">
                <a:xfrm rot="-2394074">
                  <a:off x="441" y="3805"/>
                  <a:ext cx="193" cy="21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1">
                      <a:latin typeface="Courier New" charset="0"/>
                    </a:rPr>
                    <a:t>C</a:t>
                  </a:r>
                </a:p>
              </p:txBody>
            </p:sp>
            <p:sp>
              <p:nvSpPr>
                <p:cNvPr id="67" name="Text Box 17"/>
                <p:cNvSpPr txBox="1">
                  <a:spLocks noChangeArrowheads="1"/>
                </p:cNvSpPr>
                <p:nvPr/>
              </p:nvSpPr>
              <p:spPr bwMode="auto">
                <a:xfrm rot="-9109671">
                  <a:off x="377" y="3915"/>
                  <a:ext cx="270" cy="21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1">
                      <a:latin typeface="Courier New" charset="0"/>
                    </a:rPr>
                    <a:t>GA</a:t>
                  </a:r>
                </a:p>
              </p:txBody>
            </p:sp>
            <p:sp>
              <p:nvSpPr>
                <p:cNvPr id="68" name="Text Box 18"/>
                <p:cNvSpPr txBox="1">
                  <a:spLocks noChangeArrowheads="1"/>
                </p:cNvSpPr>
                <p:nvPr/>
              </p:nvSpPr>
              <p:spPr bwMode="auto">
                <a:xfrm rot="-9109671">
                  <a:off x="233" y="3915"/>
                  <a:ext cx="270" cy="21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1">
                      <a:latin typeface="Courier New" charset="0"/>
                    </a:rPr>
                    <a:t>GA</a:t>
                  </a:r>
                </a:p>
              </p:txBody>
            </p:sp>
            <p:sp>
              <p:nvSpPr>
                <p:cNvPr id="69" name="Text Box 19"/>
                <p:cNvSpPr txBox="1">
                  <a:spLocks noChangeArrowheads="1"/>
                </p:cNvSpPr>
                <p:nvPr/>
              </p:nvSpPr>
              <p:spPr bwMode="auto">
                <a:xfrm rot="-2394074">
                  <a:off x="249" y="3930"/>
                  <a:ext cx="347" cy="21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1">
                      <a:latin typeface="Courier New" charset="0"/>
                    </a:rPr>
                    <a:t>ATT</a:t>
                  </a:r>
                </a:p>
              </p:txBody>
            </p:sp>
            <p:sp>
              <p:nvSpPr>
                <p:cNvPr id="70" name="Text Box 20"/>
                <p:cNvSpPr txBox="1">
                  <a:spLocks noChangeArrowheads="1"/>
                </p:cNvSpPr>
                <p:nvPr/>
              </p:nvSpPr>
              <p:spPr bwMode="auto">
                <a:xfrm rot="-2394074">
                  <a:off x="105" y="3902"/>
                  <a:ext cx="347" cy="21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1">
                      <a:latin typeface="Courier New" charset="0"/>
                    </a:rPr>
                    <a:t>ATT</a:t>
                  </a:r>
                </a:p>
              </p:txBody>
            </p:sp>
            <p:sp>
              <p:nvSpPr>
                <p:cNvPr id="71" name="Text Box 21"/>
                <p:cNvSpPr txBox="1">
                  <a:spLocks noChangeArrowheads="1"/>
                </p:cNvSpPr>
                <p:nvPr/>
              </p:nvSpPr>
              <p:spPr bwMode="auto">
                <a:xfrm rot="-2394074">
                  <a:off x="377" y="3977"/>
                  <a:ext cx="193" cy="21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1">
                      <a:latin typeface="Courier New" charset="0"/>
                    </a:rPr>
                    <a:t>C</a:t>
                  </a:r>
                </a:p>
              </p:txBody>
            </p:sp>
            <p:sp>
              <p:nvSpPr>
                <p:cNvPr id="72" name="Text Box 22"/>
                <p:cNvSpPr txBox="1">
                  <a:spLocks noChangeArrowheads="1"/>
                </p:cNvSpPr>
                <p:nvPr/>
              </p:nvSpPr>
              <p:spPr bwMode="auto">
                <a:xfrm rot="-2394074">
                  <a:off x="297" y="3853"/>
                  <a:ext cx="193" cy="21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1">
                      <a:latin typeface="Courier New" charset="0"/>
                    </a:rPr>
                    <a:t>C</a:t>
                  </a:r>
                </a:p>
              </p:txBody>
            </p:sp>
          </p:grpSp>
          <p:grpSp>
            <p:nvGrpSpPr>
              <p:cNvPr id="6" name="Group 23"/>
              <p:cNvGrpSpPr>
                <a:grpSpLocks/>
              </p:cNvGrpSpPr>
              <p:nvPr/>
            </p:nvGrpSpPr>
            <p:grpSpPr bwMode="auto">
              <a:xfrm>
                <a:off x="2420" y="3407"/>
                <a:ext cx="558" cy="692"/>
                <a:chOff x="2420" y="3497"/>
                <a:chExt cx="558" cy="692"/>
              </a:xfrm>
            </p:grpSpPr>
            <p:sp>
              <p:nvSpPr>
                <p:cNvPr id="49" name="Text Box 24"/>
                <p:cNvSpPr txBox="1">
                  <a:spLocks noChangeArrowheads="1"/>
                </p:cNvSpPr>
                <p:nvPr/>
              </p:nvSpPr>
              <p:spPr bwMode="auto">
                <a:xfrm rot="-9109671">
                  <a:off x="2563" y="3497"/>
                  <a:ext cx="270" cy="21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1">
                      <a:latin typeface="Courier New" charset="0"/>
                    </a:rPr>
                    <a:t>AT</a:t>
                  </a:r>
                </a:p>
              </p:txBody>
            </p:sp>
            <p:sp>
              <p:nvSpPr>
                <p:cNvPr id="50" name="Text Box 25"/>
                <p:cNvSpPr txBox="1">
                  <a:spLocks noChangeArrowheads="1"/>
                </p:cNvSpPr>
                <p:nvPr/>
              </p:nvSpPr>
              <p:spPr bwMode="auto">
                <a:xfrm rot="-9109671">
                  <a:off x="2564" y="3867"/>
                  <a:ext cx="270" cy="21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1">
                      <a:latin typeface="Courier New" charset="0"/>
                    </a:rPr>
                    <a:t>GA</a:t>
                  </a:r>
                </a:p>
              </p:txBody>
            </p:sp>
            <p:sp>
              <p:nvSpPr>
                <p:cNvPr id="51" name="Text Box 26"/>
                <p:cNvSpPr txBox="1">
                  <a:spLocks noChangeArrowheads="1"/>
                </p:cNvSpPr>
                <p:nvPr/>
              </p:nvSpPr>
              <p:spPr bwMode="auto">
                <a:xfrm rot="-9109671">
                  <a:off x="2420" y="3867"/>
                  <a:ext cx="270" cy="21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1">
                      <a:latin typeface="Courier New" charset="0"/>
                    </a:rPr>
                    <a:t>GA</a:t>
                  </a:r>
                </a:p>
              </p:txBody>
            </p:sp>
            <p:sp>
              <p:nvSpPr>
                <p:cNvPr id="52" name="Text Box 27"/>
                <p:cNvSpPr txBox="1">
                  <a:spLocks noChangeArrowheads="1"/>
                </p:cNvSpPr>
                <p:nvPr/>
              </p:nvSpPr>
              <p:spPr bwMode="auto">
                <a:xfrm rot="-2394074">
                  <a:off x="2437" y="3882"/>
                  <a:ext cx="347" cy="21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1">
                      <a:latin typeface="Courier New" charset="0"/>
                    </a:rPr>
                    <a:t>ATT</a:t>
                  </a:r>
                </a:p>
              </p:txBody>
            </p:sp>
            <p:sp>
              <p:nvSpPr>
                <p:cNvPr id="53" name="Text Box 28"/>
                <p:cNvSpPr txBox="1">
                  <a:spLocks noChangeArrowheads="1"/>
                </p:cNvSpPr>
                <p:nvPr/>
              </p:nvSpPr>
              <p:spPr bwMode="auto">
                <a:xfrm rot="-2394074">
                  <a:off x="2565" y="3929"/>
                  <a:ext cx="193" cy="21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1">
                      <a:latin typeface="Courier New" charset="0"/>
                    </a:rPr>
                    <a:t>C</a:t>
                  </a:r>
                </a:p>
              </p:txBody>
            </p:sp>
            <p:sp>
              <p:nvSpPr>
                <p:cNvPr id="54" name="Text Box 29"/>
                <p:cNvSpPr txBox="1">
                  <a:spLocks noChangeArrowheads="1"/>
                </p:cNvSpPr>
                <p:nvPr/>
              </p:nvSpPr>
              <p:spPr bwMode="auto">
                <a:xfrm rot="-2394074">
                  <a:off x="2485" y="3805"/>
                  <a:ext cx="193" cy="21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1">
                      <a:latin typeface="Courier New" charset="0"/>
                    </a:rPr>
                    <a:t>C</a:t>
                  </a:r>
                </a:p>
              </p:txBody>
            </p:sp>
            <p:sp>
              <p:nvSpPr>
                <p:cNvPr id="55" name="Text Box 30"/>
                <p:cNvSpPr txBox="1">
                  <a:spLocks noChangeArrowheads="1"/>
                </p:cNvSpPr>
                <p:nvPr/>
              </p:nvSpPr>
              <p:spPr bwMode="auto">
                <a:xfrm rot="-9109671">
                  <a:off x="2708" y="3915"/>
                  <a:ext cx="270" cy="21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1">
                      <a:latin typeface="Courier New" charset="0"/>
                    </a:rPr>
                    <a:t>GA</a:t>
                  </a:r>
                </a:p>
              </p:txBody>
            </p:sp>
            <p:sp>
              <p:nvSpPr>
                <p:cNvPr id="56" name="Text Box 31"/>
                <p:cNvSpPr txBox="1">
                  <a:spLocks noChangeArrowheads="1"/>
                </p:cNvSpPr>
                <p:nvPr/>
              </p:nvSpPr>
              <p:spPr bwMode="auto">
                <a:xfrm rot="-9109671">
                  <a:off x="2564" y="3915"/>
                  <a:ext cx="270" cy="21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1">
                      <a:latin typeface="Courier New" charset="0"/>
                    </a:rPr>
                    <a:t>GA</a:t>
                  </a:r>
                </a:p>
              </p:txBody>
            </p:sp>
            <p:sp>
              <p:nvSpPr>
                <p:cNvPr id="57" name="Text Box 32"/>
                <p:cNvSpPr txBox="1">
                  <a:spLocks noChangeArrowheads="1"/>
                </p:cNvSpPr>
                <p:nvPr/>
              </p:nvSpPr>
              <p:spPr bwMode="auto">
                <a:xfrm rot="-2394074">
                  <a:off x="2581" y="3930"/>
                  <a:ext cx="347" cy="21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1">
                      <a:latin typeface="Courier New" charset="0"/>
                    </a:rPr>
                    <a:t>ATT</a:t>
                  </a:r>
                </a:p>
              </p:txBody>
            </p:sp>
            <p:sp>
              <p:nvSpPr>
                <p:cNvPr id="58" name="Text Box 33"/>
                <p:cNvSpPr txBox="1">
                  <a:spLocks noChangeArrowheads="1"/>
                </p:cNvSpPr>
                <p:nvPr/>
              </p:nvSpPr>
              <p:spPr bwMode="auto">
                <a:xfrm rot="-2394074">
                  <a:off x="2709" y="3977"/>
                  <a:ext cx="193" cy="21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1">
                      <a:latin typeface="Courier New" charset="0"/>
                    </a:rPr>
                    <a:t>C</a:t>
                  </a:r>
                </a:p>
              </p:txBody>
            </p:sp>
            <p:sp>
              <p:nvSpPr>
                <p:cNvPr id="59" name="Text Box 34"/>
                <p:cNvSpPr txBox="1">
                  <a:spLocks noChangeArrowheads="1"/>
                </p:cNvSpPr>
                <p:nvPr/>
              </p:nvSpPr>
              <p:spPr bwMode="auto">
                <a:xfrm rot="-2394074">
                  <a:off x="2629" y="3853"/>
                  <a:ext cx="193" cy="21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1">
                      <a:latin typeface="Courier New" charset="0"/>
                    </a:rPr>
                    <a:t>C</a:t>
                  </a:r>
                </a:p>
              </p:txBody>
            </p:sp>
          </p:grpSp>
          <p:grpSp>
            <p:nvGrpSpPr>
              <p:cNvPr id="7" name="Group 35"/>
              <p:cNvGrpSpPr>
                <a:grpSpLocks/>
              </p:cNvGrpSpPr>
              <p:nvPr/>
            </p:nvGrpSpPr>
            <p:grpSpPr bwMode="auto">
              <a:xfrm>
                <a:off x="278" y="754"/>
                <a:ext cx="2500" cy="2337"/>
                <a:chOff x="278" y="844"/>
                <a:chExt cx="2500" cy="2337"/>
              </a:xfrm>
            </p:grpSpPr>
            <p:sp>
              <p:nvSpPr>
                <p:cNvPr id="8" name="Text Box 36"/>
                <p:cNvSpPr txBox="1">
                  <a:spLocks noChangeArrowheads="1"/>
                </p:cNvSpPr>
                <p:nvPr/>
              </p:nvSpPr>
              <p:spPr bwMode="auto">
                <a:xfrm rot="-1892385">
                  <a:off x="2191" y="2906"/>
                  <a:ext cx="578" cy="212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1">
                      <a:latin typeface="Courier New" charset="0"/>
                    </a:rPr>
                    <a:t>TTGACA</a:t>
                  </a:r>
                </a:p>
              </p:txBody>
            </p:sp>
            <p:grpSp>
              <p:nvGrpSpPr>
                <p:cNvPr id="9" name="Group 37"/>
                <p:cNvGrpSpPr>
                  <a:grpSpLocks/>
                </p:cNvGrpSpPr>
                <p:nvPr/>
              </p:nvGrpSpPr>
              <p:grpSpPr bwMode="auto">
                <a:xfrm>
                  <a:off x="278" y="844"/>
                  <a:ext cx="2500" cy="2337"/>
                  <a:chOff x="278" y="844"/>
                  <a:chExt cx="2500" cy="2337"/>
                </a:xfrm>
              </p:grpSpPr>
              <p:sp>
                <p:nvSpPr>
                  <p:cNvPr id="10" name="Text Box 38"/>
                  <p:cNvSpPr txBox="1">
                    <a:spLocks noChangeArrowheads="1"/>
                  </p:cNvSpPr>
                  <p:nvPr/>
                </p:nvSpPr>
                <p:spPr bwMode="auto">
                  <a:xfrm rot="-9109671">
                    <a:off x="278" y="2842"/>
                    <a:ext cx="732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latin typeface="Courier New" charset="0"/>
                      </a:rPr>
                      <a:t>ATTGACTA</a:t>
                    </a:r>
                  </a:p>
                </p:txBody>
              </p:sp>
              <p:pic>
                <p:nvPicPr>
                  <p:cNvPr id="11" name="Picture 39" descr="j0274790"/>
                  <p:cNvPicPr>
                    <a:picLocks noChangeAspect="1" noChangeArrowheads="1"/>
                  </p:cNvPicPr>
                  <p:nvPr/>
                </p:nvPicPr>
                <p:blipFill>
                  <a:blip r:embed="rId4" cstate="print"/>
                  <a:srcRect/>
                  <a:stretch>
                    <a:fillRect/>
                  </a:stretch>
                </p:blipFill>
                <p:spPr bwMode="auto">
                  <a:xfrm>
                    <a:off x="1872" y="960"/>
                    <a:ext cx="587" cy="96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sp>
                <p:nvSpPr>
                  <p:cNvPr id="12" name="Text Box 40"/>
                  <p:cNvSpPr txBox="1">
                    <a:spLocks noChangeArrowheads="1"/>
                  </p:cNvSpPr>
                  <p:nvPr/>
                </p:nvSpPr>
                <p:spPr bwMode="auto">
                  <a:xfrm rot="828554">
                    <a:off x="1294" y="844"/>
                    <a:ext cx="578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latin typeface="Courier New" charset="0"/>
                      </a:rPr>
                      <a:t>ACGTGC</a:t>
                    </a:r>
                  </a:p>
                </p:txBody>
              </p:sp>
              <p:sp>
                <p:nvSpPr>
                  <p:cNvPr id="13" name="Text Box 41"/>
                  <p:cNvSpPr txBox="1">
                    <a:spLocks noChangeArrowheads="1"/>
                  </p:cNvSpPr>
                  <p:nvPr/>
                </p:nvSpPr>
                <p:spPr bwMode="auto">
                  <a:xfrm rot="-1527467">
                    <a:off x="632" y="2357"/>
                    <a:ext cx="578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latin typeface="Courier New" charset="0"/>
                      </a:rPr>
                      <a:t>TTGACA</a:t>
                    </a:r>
                  </a:p>
                </p:txBody>
              </p:sp>
              <p:sp>
                <p:nvSpPr>
                  <p:cNvPr id="14" name="Text Box 42"/>
                  <p:cNvSpPr txBox="1">
                    <a:spLocks noChangeArrowheads="1"/>
                  </p:cNvSpPr>
                  <p:nvPr/>
                </p:nvSpPr>
                <p:spPr bwMode="auto">
                  <a:xfrm rot="6669988">
                    <a:off x="1519" y="2014"/>
                    <a:ext cx="501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latin typeface="Courier New" charset="0"/>
                      </a:rPr>
                      <a:t>CGTGA</a:t>
                    </a:r>
                  </a:p>
                </p:txBody>
              </p:sp>
              <p:sp>
                <p:nvSpPr>
                  <p:cNvPr id="15" name="Text Box 43"/>
                  <p:cNvSpPr txBox="1">
                    <a:spLocks noChangeArrowheads="1"/>
                  </p:cNvSpPr>
                  <p:nvPr/>
                </p:nvSpPr>
                <p:spPr bwMode="auto">
                  <a:xfrm rot="-9109671">
                    <a:off x="949" y="2054"/>
                    <a:ext cx="732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latin typeface="Courier New" charset="0"/>
                      </a:rPr>
                      <a:t>ATTGACTA</a:t>
                    </a:r>
                  </a:p>
                </p:txBody>
              </p:sp>
              <p:sp>
                <p:nvSpPr>
                  <p:cNvPr id="16" name="Text Box 44"/>
                  <p:cNvSpPr txBox="1">
                    <a:spLocks noChangeArrowheads="1"/>
                  </p:cNvSpPr>
                  <p:nvPr/>
                </p:nvSpPr>
                <p:spPr bwMode="auto">
                  <a:xfrm rot="-6679613">
                    <a:off x="1881" y="2615"/>
                    <a:ext cx="732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latin typeface="Courier New" charset="0"/>
                      </a:rPr>
                      <a:t>TATAGCCG</a:t>
                    </a:r>
                  </a:p>
                </p:txBody>
              </p:sp>
              <p:sp>
                <p:nvSpPr>
                  <p:cNvPr id="17" name="Text Box 45"/>
                  <p:cNvSpPr txBox="1">
                    <a:spLocks noChangeArrowheads="1"/>
                  </p:cNvSpPr>
                  <p:nvPr/>
                </p:nvSpPr>
                <p:spPr bwMode="auto">
                  <a:xfrm rot="-1417657">
                    <a:off x="1016" y="1804"/>
                    <a:ext cx="578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latin typeface="Courier New" charset="0"/>
                      </a:rPr>
                      <a:t>ACGTGC</a:t>
                    </a:r>
                  </a:p>
                </p:txBody>
              </p:sp>
              <p:sp>
                <p:nvSpPr>
                  <p:cNvPr id="18" name="Text Box 46"/>
                  <p:cNvSpPr txBox="1">
                    <a:spLocks noChangeArrowheads="1"/>
                  </p:cNvSpPr>
                  <p:nvPr/>
                </p:nvSpPr>
                <p:spPr bwMode="auto">
                  <a:xfrm rot="2752599">
                    <a:off x="1293" y="2606"/>
                    <a:ext cx="578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latin typeface="Courier New" charset="0"/>
                      </a:rPr>
                      <a:t>ACGTGC</a:t>
                    </a:r>
                  </a:p>
                </p:txBody>
              </p:sp>
              <p:sp>
                <p:nvSpPr>
                  <p:cNvPr id="19" name="Text Box 47"/>
                  <p:cNvSpPr txBox="1">
                    <a:spLocks noChangeArrowheads="1"/>
                  </p:cNvSpPr>
                  <p:nvPr/>
                </p:nvSpPr>
                <p:spPr bwMode="auto">
                  <a:xfrm rot="-4323513">
                    <a:off x="954" y="2495"/>
                    <a:ext cx="578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latin typeface="Courier New" charset="0"/>
                      </a:rPr>
                      <a:t>ACGTGC</a:t>
                    </a:r>
                  </a:p>
                </p:txBody>
              </p:sp>
              <p:sp>
                <p:nvSpPr>
                  <p:cNvPr id="20" name="Text Box 48"/>
                  <p:cNvSpPr txBox="1">
                    <a:spLocks noChangeArrowheads="1"/>
                  </p:cNvSpPr>
                  <p:nvPr/>
                </p:nvSpPr>
                <p:spPr bwMode="auto">
                  <a:xfrm rot="-226744">
                    <a:off x="1249" y="2441"/>
                    <a:ext cx="578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latin typeface="Courier New" charset="0"/>
                      </a:rPr>
                      <a:t>TTGACA</a:t>
                    </a:r>
                  </a:p>
                </p:txBody>
              </p:sp>
              <p:sp>
                <p:nvSpPr>
                  <p:cNvPr id="21" name="Text Box 49"/>
                  <p:cNvSpPr txBox="1">
                    <a:spLocks noChangeArrowheads="1"/>
                  </p:cNvSpPr>
                  <p:nvPr/>
                </p:nvSpPr>
                <p:spPr bwMode="auto">
                  <a:xfrm rot="7834439">
                    <a:off x="1778" y="2126"/>
                    <a:ext cx="578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latin typeface="Courier New" charset="0"/>
                      </a:rPr>
                      <a:t>TTGACA</a:t>
                    </a:r>
                  </a:p>
                </p:txBody>
              </p:sp>
              <p:sp>
                <p:nvSpPr>
                  <p:cNvPr id="22" name="Text Box 50"/>
                  <p:cNvSpPr txBox="1">
                    <a:spLocks noChangeArrowheads="1"/>
                  </p:cNvSpPr>
                  <p:nvPr/>
                </p:nvSpPr>
                <p:spPr bwMode="auto">
                  <a:xfrm rot="-7258714">
                    <a:off x="595" y="2765"/>
                    <a:ext cx="501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latin typeface="Courier New" charset="0"/>
                      </a:rPr>
                      <a:t>CGTGA</a:t>
                    </a:r>
                  </a:p>
                </p:txBody>
              </p:sp>
              <p:sp>
                <p:nvSpPr>
                  <p:cNvPr id="23" name="Text Box 51"/>
                  <p:cNvSpPr txBox="1">
                    <a:spLocks noChangeArrowheads="1"/>
                  </p:cNvSpPr>
                  <p:nvPr/>
                </p:nvSpPr>
                <p:spPr bwMode="auto">
                  <a:xfrm rot="3286947">
                    <a:off x="1591" y="2663"/>
                    <a:ext cx="501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latin typeface="Courier New" charset="0"/>
                      </a:rPr>
                      <a:t>CGTGA</a:t>
                    </a:r>
                  </a:p>
                </p:txBody>
              </p:sp>
              <p:sp>
                <p:nvSpPr>
                  <p:cNvPr id="24" name="Text Box 52"/>
                  <p:cNvSpPr txBox="1">
                    <a:spLocks noChangeArrowheads="1"/>
                  </p:cNvSpPr>
                  <p:nvPr/>
                </p:nvSpPr>
                <p:spPr bwMode="auto">
                  <a:xfrm rot="5064445">
                    <a:off x="416" y="2640"/>
                    <a:ext cx="501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latin typeface="Courier New" charset="0"/>
                      </a:rPr>
                      <a:t>CGTGA</a:t>
                    </a:r>
                  </a:p>
                </p:txBody>
              </p:sp>
              <p:sp>
                <p:nvSpPr>
                  <p:cNvPr id="25" name="Text Box 53"/>
                  <p:cNvSpPr txBox="1">
                    <a:spLocks noChangeArrowheads="1"/>
                  </p:cNvSpPr>
                  <p:nvPr/>
                </p:nvSpPr>
                <p:spPr bwMode="auto">
                  <a:xfrm rot="-3950007">
                    <a:off x="623" y="2696"/>
                    <a:ext cx="732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latin typeface="Courier New" charset="0"/>
                      </a:rPr>
                      <a:t>ATTGACTA</a:t>
                    </a:r>
                  </a:p>
                </p:txBody>
              </p:sp>
              <p:sp>
                <p:nvSpPr>
                  <p:cNvPr id="26" name="Text Box 54"/>
                  <p:cNvSpPr txBox="1">
                    <a:spLocks noChangeArrowheads="1"/>
                  </p:cNvSpPr>
                  <p:nvPr/>
                </p:nvSpPr>
                <p:spPr bwMode="auto">
                  <a:xfrm rot="1593481">
                    <a:off x="1104" y="2755"/>
                    <a:ext cx="732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latin typeface="Courier New" charset="0"/>
                      </a:rPr>
                      <a:t>ATTGACTA</a:t>
                    </a:r>
                  </a:p>
                </p:txBody>
              </p:sp>
              <p:sp>
                <p:nvSpPr>
                  <p:cNvPr id="27" name="Text Box 55"/>
                  <p:cNvSpPr txBox="1">
                    <a:spLocks noChangeArrowheads="1"/>
                  </p:cNvSpPr>
                  <p:nvPr/>
                </p:nvSpPr>
                <p:spPr bwMode="auto">
                  <a:xfrm rot="-2394074">
                    <a:off x="1935" y="2752"/>
                    <a:ext cx="732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latin typeface="Courier New" charset="0"/>
                      </a:rPr>
                      <a:t>ATTGACTA</a:t>
                    </a:r>
                  </a:p>
                </p:txBody>
              </p:sp>
              <p:sp>
                <p:nvSpPr>
                  <p:cNvPr id="28" name="Text Box 56"/>
                  <p:cNvSpPr txBox="1">
                    <a:spLocks noChangeArrowheads="1"/>
                  </p:cNvSpPr>
                  <p:nvPr/>
                </p:nvSpPr>
                <p:spPr bwMode="auto">
                  <a:xfrm rot="-708971">
                    <a:off x="867" y="2832"/>
                    <a:ext cx="732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latin typeface="Courier New" charset="0"/>
                      </a:rPr>
                      <a:t>ATTGACTA</a:t>
                    </a:r>
                  </a:p>
                </p:txBody>
              </p:sp>
              <p:sp>
                <p:nvSpPr>
                  <p:cNvPr id="29" name="Text Box 57"/>
                  <p:cNvSpPr txBox="1">
                    <a:spLocks noChangeArrowheads="1"/>
                  </p:cNvSpPr>
                  <p:nvPr/>
                </p:nvSpPr>
                <p:spPr bwMode="auto">
                  <a:xfrm rot="-1782596">
                    <a:off x="1548" y="2849"/>
                    <a:ext cx="732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latin typeface="Courier New" charset="0"/>
                      </a:rPr>
                      <a:t>TATAGCCG</a:t>
                    </a:r>
                  </a:p>
                </p:txBody>
              </p:sp>
              <p:sp>
                <p:nvSpPr>
                  <p:cNvPr id="30" name="Text Box 58"/>
                  <p:cNvSpPr txBox="1">
                    <a:spLocks noChangeArrowheads="1"/>
                  </p:cNvSpPr>
                  <p:nvPr/>
                </p:nvSpPr>
                <p:spPr bwMode="auto">
                  <a:xfrm rot="2517697">
                    <a:off x="1207" y="1536"/>
                    <a:ext cx="732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latin typeface="Courier New" charset="0"/>
                      </a:rPr>
                      <a:t>TATAGCCG</a:t>
                    </a:r>
                  </a:p>
                </p:txBody>
              </p:sp>
              <p:sp>
                <p:nvSpPr>
                  <p:cNvPr id="31" name="Text Box 59"/>
                  <p:cNvSpPr txBox="1">
                    <a:spLocks noChangeArrowheads="1"/>
                  </p:cNvSpPr>
                  <p:nvPr/>
                </p:nvSpPr>
                <p:spPr bwMode="auto">
                  <a:xfrm rot="-3235160">
                    <a:off x="1522" y="2691"/>
                    <a:ext cx="732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latin typeface="Courier New" charset="0"/>
                      </a:rPr>
                      <a:t>TATAGCCG</a:t>
                    </a:r>
                  </a:p>
                </p:txBody>
              </p:sp>
              <p:sp>
                <p:nvSpPr>
                  <p:cNvPr id="32" name="Text Box 60"/>
                  <p:cNvSpPr txBox="1">
                    <a:spLocks noChangeArrowheads="1"/>
                  </p:cNvSpPr>
                  <p:nvPr/>
                </p:nvSpPr>
                <p:spPr bwMode="auto">
                  <a:xfrm rot="1433764">
                    <a:off x="721" y="2724"/>
                    <a:ext cx="732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latin typeface="Courier New" charset="0"/>
                      </a:rPr>
                      <a:t>TATAGCCG</a:t>
                    </a:r>
                  </a:p>
                </p:txBody>
              </p:sp>
              <p:sp>
                <p:nvSpPr>
                  <p:cNvPr id="33" name="Text Box 6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16" y="2891"/>
                    <a:ext cx="732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latin typeface="Courier New" charset="0"/>
                      </a:rPr>
                      <a:t>TATAGCCG</a:t>
                    </a:r>
                  </a:p>
                </p:txBody>
              </p:sp>
              <p:sp>
                <p:nvSpPr>
                  <p:cNvPr id="34" name="Text Box 6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32" y="2891"/>
                    <a:ext cx="732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latin typeface="Courier New" charset="0"/>
                      </a:rPr>
                      <a:t>TATAGCCG</a:t>
                    </a:r>
                  </a:p>
                </p:txBody>
              </p:sp>
              <p:sp>
                <p:nvSpPr>
                  <p:cNvPr id="35" name="Text Box 6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04" y="2891"/>
                    <a:ext cx="732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latin typeface="Courier New" charset="0"/>
                      </a:rPr>
                      <a:t>TATAGCCG</a:t>
                    </a:r>
                  </a:p>
                </p:txBody>
              </p:sp>
              <p:sp>
                <p:nvSpPr>
                  <p:cNvPr id="36" name="Text Box 6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24" y="2871"/>
                    <a:ext cx="732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latin typeface="Courier New" charset="0"/>
                      </a:rPr>
                      <a:t>TATAGCCG</a:t>
                    </a:r>
                  </a:p>
                </p:txBody>
              </p:sp>
              <p:sp>
                <p:nvSpPr>
                  <p:cNvPr id="37" name="Text Box 65"/>
                  <p:cNvSpPr txBox="1">
                    <a:spLocks noChangeArrowheads="1"/>
                  </p:cNvSpPr>
                  <p:nvPr/>
                </p:nvSpPr>
                <p:spPr bwMode="auto">
                  <a:xfrm rot="-2394074">
                    <a:off x="2585" y="2969"/>
                    <a:ext cx="193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latin typeface="Courier New" charset="0"/>
                      </a:rPr>
                      <a:t>C</a:t>
                    </a:r>
                  </a:p>
                </p:txBody>
              </p:sp>
              <p:sp>
                <p:nvSpPr>
                  <p:cNvPr id="38" name="Text Box 66"/>
                  <p:cNvSpPr txBox="1">
                    <a:spLocks noChangeArrowheads="1"/>
                  </p:cNvSpPr>
                  <p:nvPr/>
                </p:nvSpPr>
                <p:spPr bwMode="auto">
                  <a:xfrm rot="-2394074">
                    <a:off x="297" y="2848"/>
                    <a:ext cx="347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latin typeface="Courier New" charset="0"/>
                      </a:rPr>
                      <a:t>ATT</a:t>
                    </a:r>
                  </a:p>
                </p:txBody>
              </p:sp>
              <p:sp>
                <p:nvSpPr>
                  <p:cNvPr id="39" name="Text Box 67"/>
                  <p:cNvSpPr txBox="1">
                    <a:spLocks noChangeArrowheads="1"/>
                  </p:cNvSpPr>
                  <p:nvPr/>
                </p:nvSpPr>
                <p:spPr bwMode="auto">
                  <a:xfrm rot="-9109671">
                    <a:off x="1048" y="1083"/>
                    <a:ext cx="270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latin typeface="Courier New" charset="0"/>
                      </a:rPr>
                      <a:t>GA</a:t>
                    </a:r>
                  </a:p>
                </p:txBody>
              </p:sp>
              <p:sp>
                <p:nvSpPr>
                  <p:cNvPr id="40" name="Text Box 68"/>
                  <p:cNvSpPr txBox="1">
                    <a:spLocks noChangeArrowheads="1"/>
                  </p:cNvSpPr>
                  <p:nvPr/>
                </p:nvSpPr>
                <p:spPr bwMode="auto">
                  <a:xfrm rot="-9109671">
                    <a:off x="904" y="1083"/>
                    <a:ext cx="270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latin typeface="Courier New" charset="0"/>
                      </a:rPr>
                      <a:t>GA</a:t>
                    </a:r>
                  </a:p>
                </p:txBody>
              </p:sp>
              <p:sp>
                <p:nvSpPr>
                  <p:cNvPr id="41" name="Text Box 69"/>
                  <p:cNvSpPr txBox="1">
                    <a:spLocks noChangeArrowheads="1"/>
                  </p:cNvSpPr>
                  <p:nvPr/>
                </p:nvSpPr>
                <p:spPr bwMode="auto">
                  <a:xfrm rot="-2394074">
                    <a:off x="921" y="1098"/>
                    <a:ext cx="347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latin typeface="Courier New" charset="0"/>
                      </a:rPr>
                      <a:t>ATT</a:t>
                    </a:r>
                  </a:p>
                </p:txBody>
              </p:sp>
              <p:sp>
                <p:nvSpPr>
                  <p:cNvPr id="42" name="Text Box 70"/>
                  <p:cNvSpPr txBox="1">
                    <a:spLocks noChangeArrowheads="1"/>
                  </p:cNvSpPr>
                  <p:nvPr/>
                </p:nvSpPr>
                <p:spPr bwMode="auto">
                  <a:xfrm rot="-2394074">
                    <a:off x="1049" y="1145"/>
                    <a:ext cx="193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latin typeface="Courier New" charset="0"/>
                      </a:rPr>
                      <a:t>C</a:t>
                    </a:r>
                  </a:p>
                </p:txBody>
              </p:sp>
              <p:sp>
                <p:nvSpPr>
                  <p:cNvPr id="43" name="Text Box 71"/>
                  <p:cNvSpPr txBox="1">
                    <a:spLocks noChangeArrowheads="1"/>
                  </p:cNvSpPr>
                  <p:nvPr/>
                </p:nvSpPr>
                <p:spPr bwMode="auto">
                  <a:xfrm rot="-2394074">
                    <a:off x="969" y="1021"/>
                    <a:ext cx="193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latin typeface="Courier New" charset="0"/>
                      </a:rPr>
                      <a:t>C</a:t>
                    </a:r>
                  </a:p>
                </p:txBody>
              </p:sp>
              <p:sp>
                <p:nvSpPr>
                  <p:cNvPr id="44" name="Text Box 72"/>
                  <p:cNvSpPr txBox="1">
                    <a:spLocks noChangeArrowheads="1"/>
                  </p:cNvSpPr>
                  <p:nvPr/>
                </p:nvSpPr>
                <p:spPr bwMode="auto">
                  <a:xfrm rot="-9109671">
                    <a:off x="1192" y="1131"/>
                    <a:ext cx="270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latin typeface="Courier New" charset="0"/>
                      </a:rPr>
                      <a:t>GA</a:t>
                    </a:r>
                  </a:p>
                </p:txBody>
              </p:sp>
              <p:sp>
                <p:nvSpPr>
                  <p:cNvPr id="45" name="Text Box 73"/>
                  <p:cNvSpPr txBox="1">
                    <a:spLocks noChangeArrowheads="1"/>
                  </p:cNvSpPr>
                  <p:nvPr/>
                </p:nvSpPr>
                <p:spPr bwMode="auto">
                  <a:xfrm rot="-9109671">
                    <a:off x="1048" y="1131"/>
                    <a:ext cx="270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latin typeface="Courier New" charset="0"/>
                      </a:rPr>
                      <a:t>GA</a:t>
                    </a:r>
                  </a:p>
                </p:txBody>
              </p:sp>
              <p:sp>
                <p:nvSpPr>
                  <p:cNvPr id="46" name="Text Box 74"/>
                  <p:cNvSpPr txBox="1">
                    <a:spLocks noChangeArrowheads="1"/>
                  </p:cNvSpPr>
                  <p:nvPr/>
                </p:nvSpPr>
                <p:spPr bwMode="auto">
                  <a:xfrm rot="-2394074">
                    <a:off x="1065" y="1146"/>
                    <a:ext cx="347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latin typeface="Courier New" charset="0"/>
                      </a:rPr>
                      <a:t>ATT</a:t>
                    </a:r>
                  </a:p>
                </p:txBody>
              </p:sp>
              <p:sp>
                <p:nvSpPr>
                  <p:cNvPr id="47" name="Text Box 75"/>
                  <p:cNvSpPr txBox="1">
                    <a:spLocks noChangeArrowheads="1"/>
                  </p:cNvSpPr>
                  <p:nvPr/>
                </p:nvSpPr>
                <p:spPr bwMode="auto">
                  <a:xfrm rot="-2394074">
                    <a:off x="1193" y="1193"/>
                    <a:ext cx="193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latin typeface="Courier New" charset="0"/>
                      </a:rPr>
                      <a:t>C</a:t>
                    </a:r>
                  </a:p>
                </p:txBody>
              </p:sp>
              <p:sp>
                <p:nvSpPr>
                  <p:cNvPr id="48" name="Text Box 76"/>
                  <p:cNvSpPr txBox="1">
                    <a:spLocks noChangeArrowheads="1"/>
                  </p:cNvSpPr>
                  <p:nvPr/>
                </p:nvSpPr>
                <p:spPr bwMode="auto">
                  <a:xfrm rot="-2394074">
                    <a:off x="1113" y="1069"/>
                    <a:ext cx="193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latin typeface="Courier New" charset="0"/>
                      </a:rPr>
                      <a:t>C</a:t>
                    </a:r>
                  </a:p>
                </p:txBody>
              </p:sp>
            </p:grpSp>
          </p:grpSp>
        </p:grpSp>
        <p:pic>
          <p:nvPicPr>
            <p:cNvPr id="73" name="Picture 77" descr="j0127064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09550" y="1438275"/>
              <a:ext cx="1873250" cy="1208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4" name="Picture 3" descr="j0274778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800475" y="2038350"/>
              <a:ext cx="581025" cy="1039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 useBgFill="1">
        <p:nvSpPr>
          <p:cNvPr id="75" name="Text Box 78"/>
          <p:cNvSpPr txBox="1">
            <a:spLocks noChangeArrowheads="1"/>
          </p:cNvSpPr>
          <p:nvPr/>
        </p:nvSpPr>
        <p:spPr bwMode="auto">
          <a:xfrm>
            <a:off x="3935413" y="1579563"/>
            <a:ext cx="666750" cy="365125"/>
          </a:xfrm>
          <a:prstGeom prst="rect">
            <a:avLst/>
          </a:prstGeom>
          <a:ln w="25400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33333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mic Sans MS" pitchFamily="-106" charset="0"/>
                <a:ea typeface="+mn-ea"/>
              </a:rPr>
              <a:t>Labs</a:t>
            </a:r>
          </a:p>
        </p:txBody>
      </p:sp>
      <p:grpSp>
        <p:nvGrpSpPr>
          <p:cNvPr id="76" name="Group 4"/>
          <p:cNvGrpSpPr>
            <a:grpSpLocks/>
          </p:cNvGrpSpPr>
          <p:nvPr/>
        </p:nvGrpSpPr>
        <p:grpSpPr bwMode="auto">
          <a:xfrm>
            <a:off x="885825" y="4703763"/>
            <a:ext cx="3200400" cy="1706562"/>
            <a:chOff x="576" y="2963"/>
            <a:chExt cx="2016" cy="1075"/>
          </a:xfrm>
        </p:grpSpPr>
        <p:sp>
          <p:nvSpPr>
            <p:cNvPr id="77" name="AutoShape 5"/>
            <p:cNvSpPr>
              <a:spLocks noChangeArrowheads="1"/>
            </p:cNvSpPr>
            <p:nvPr/>
          </p:nvSpPr>
          <p:spPr bwMode="auto">
            <a:xfrm>
              <a:off x="576" y="2963"/>
              <a:ext cx="2016" cy="1075"/>
            </a:xfrm>
            <a:custGeom>
              <a:avLst/>
              <a:gdLst>
                <a:gd name="T0" fmla="*/ 165 w 21600"/>
                <a:gd name="T1" fmla="*/ 27 h 21600"/>
                <a:gd name="T2" fmla="*/ 94 w 21600"/>
                <a:gd name="T3" fmla="*/ 54 h 21600"/>
                <a:gd name="T4" fmla="*/ 24 w 21600"/>
                <a:gd name="T5" fmla="*/ 27 h 21600"/>
                <a:gd name="T6" fmla="*/ 94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1 h 21600"/>
                <a:gd name="T14" fmla="*/ 17100 w 21600"/>
                <a:gd name="T15" fmla="*/ 1709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lin ang="2700000" scaled="1"/>
            </a:gra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GB"/>
            </a:p>
          </p:txBody>
        </p:sp>
        <p:sp>
          <p:nvSpPr>
            <p:cNvPr id="78" name="Text Box 6"/>
            <p:cNvSpPr txBox="1">
              <a:spLocks noChangeArrowheads="1"/>
            </p:cNvSpPr>
            <p:nvPr/>
          </p:nvSpPr>
          <p:spPr bwMode="auto">
            <a:xfrm>
              <a:off x="948" y="3088"/>
              <a:ext cx="1275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800" dirty="0" err="1">
                  <a:solidFill>
                    <a:srgbClr val="0099FF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Copperplate Gothic Bold" pitchFamily="-106" charset="0"/>
                  <a:ea typeface="+mn-ea"/>
                </a:rPr>
                <a:t>GenBank</a:t>
              </a:r>
              <a:endParaRPr lang="en-US" sz="2800" dirty="0">
                <a:solidFill>
                  <a:srgbClr val="0099F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pperplate Gothic Bold" pitchFamily="-106" charset="0"/>
                <a:ea typeface="+mn-ea"/>
              </a:endParaRPr>
            </a:p>
          </p:txBody>
        </p:sp>
      </p:grpSp>
      <p:sp>
        <p:nvSpPr>
          <p:cNvPr id="79" name="Text Box 111"/>
          <p:cNvSpPr txBox="1">
            <a:spLocks noChangeArrowheads="1"/>
          </p:cNvSpPr>
          <p:nvPr/>
        </p:nvSpPr>
        <p:spPr bwMode="auto">
          <a:xfrm>
            <a:off x="1524000" y="5486400"/>
            <a:ext cx="2132013" cy="7016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omic Sans MS" charset="0"/>
              </a:rPr>
              <a:t> Updated ONLY </a:t>
            </a:r>
          </a:p>
          <a:p>
            <a:r>
              <a:rPr lang="en-US" sz="2000" dirty="0">
                <a:solidFill>
                  <a:schemeClr val="bg1"/>
                </a:solidFill>
                <a:latin typeface="Comic Sans MS" charset="0"/>
              </a:rPr>
              <a:t>by submitters</a:t>
            </a:r>
          </a:p>
        </p:txBody>
      </p:sp>
      <p:grpSp>
        <p:nvGrpSpPr>
          <p:cNvPr id="81" name="Group 79"/>
          <p:cNvGrpSpPr>
            <a:grpSpLocks/>
          </p:cNvGrpSpPr>
          <p:nvPr/>
        </p:nvGrpSpPr>
        <p:grpSpPr bwMode="auto">
          <a:xfrm>
            <a:off x="4419600" y="1120775"/>
            <a:ext cx="4343400" cy="5391150"/>
            <a:chOff x="2784" y="706"/>
            <a:chExt cx="2736" cy="3396"/>
          </a:xfrm>
        </p:grpSpPr>
        <p:sp useBgFill="1">
          <p:nvSpPr>
            <p:cNvPr id="82" name="Text Box 80"/>
            <p:cNvSpPr txBox="1">
              <a:spLocks noChangeArrowheads="1"/>
            </p:cNvSpPr>
            <p:nvPr/>
          </p:nvSpPr>
          <p:spPr bwMode="auto">
            <a:xfrm>
              <a:off x="3229" y="3903"/>
              <a:ext cx="821" cy="192"/>
            </a:xfrm>
            <a:prstGeom prst="rect">
              <a:avLst/>
            </a:prstGeom>
            <a:ln w="254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2000" b="1">
                  <a:solidFill>
                    <a:schemeClr val="tx2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Comic Sans MS" pitchFamily="-106" charset="0"/>
                  <a:ea typeface="+mn-ea"/>
                </a:rPr>
                <a:t>Algorithms</a:t>
              </a:r>
            </a:p>
          </p:txBody>
        </p:sp>
        <p:sp>
          <p:nvSpPr>
            <p:cNvPr id="83" name="Freeform 81"/>
            <p:cNvSpPr>
              <a:spLocks/>
            </p:cNvSpPr>
            <p:nvPr/>
          </p:nvSpPr>
          <p:spPr bwMode="auto">
            <a:xfrm>
              <a:off x="2784" y="935"/>
              <a:ext cx="1352" cy="2351"/>
            </a:xfrm>
            <a:custGeom>
              <a:avLst/>
              <a:gdLst>
                <a:gd name="T0" fmla="*/ 0 w 1056"/>
                <a:gd name="T1" fmla="*/ 2351 h 2064"/>
                <a:gd name="T2" fmla="*/ 615 w 1056"/>
                <a:gd name="T3" fmla="*/ 1804 h 2064"/>
                <a:gd name="T4" fmla="*/ 737 w 1056"/>
                <a:gd name="T5" fmla="*/ 601 h 2064"/>
                <a:gd name="T6" fmla="*/ 1352 w 1056"/>
                <a:gd name="T7" fmla="*/ 0 h 20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56"/>
                <a:gd name="T13" fmla="*/ 0 h 2064"/>
                <a:gd name="T14" fmla="*/ 1056 w 1056"/>
                <a:gd name="T15" fmla="*/ 2064 h 20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56" h="2064">
                  <a:moveTo>
                    <a:pt x="0" y="2064"/>
                  </a:moveTo>
                  <a:cubicBezTo>
                    <a:pt x="192" y="1952"/>
                    <a:pt x="384" y="1840"/>
                    <a:pt x="480" y="1584"/>
                  </a:cubicBezTo>
                  <a:cubicBezTo>
                    <a:pt x="576" y="1328"/>
                    <a:pt x="480" y="792"/>
                    <a:pt x="576" y="528"/>
                  </a:cubicBezTo>
                  <a:cubicBezTo>
                    <a:pt x="672" y="264"/>
                    <a:pt x="976" y="88"/>
                    <a:pt x="1056" y="0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GB"/>
            </a:p>
          </p:txBody>
        </p:sp>
        <p:sp>
          <p:nvSpPr>
            <p:cNvPr id="84" name="Freeform 82"/>
            <p:cNvSpPr>
              <a:spLocks/>
            </p:cNvSpPr>
            <p:nvPr/>
          </p:nvSpPr>
          <p:spPr bwMode="auto">
            <a:xfrm rot="399058">
              <a:off x="2784" y="3054"/>
              <a:ext cx="1399" cy="327"/>
            </a:xfrm>
            <a:custGeom>
              <a:avLst/>
              <a:gdLst>
                <a:gd name="T0" fmla="*/ 0 w 960"/>
                <a:gd name="T1" fmla="*/ 327 h 256"/>
                <a:gd name="T2" fmla="*/ 630 w 960"/>
                <a:gd name="T3" fmla="*/ 20 h 256"/>
                <a:gd name="T4" fmla="*/ 1399 w 960"/>
                <a:gd name="T5" fmla="*/ 204 h 256"/>
                <a:gd name="T6" fmla="*/ 0 60000 65536"/>
                <a:gd name="T7" fmla="*/ 0 60000 65536"/>
                <a:gd name="T8" fmla="*/ 0 60000 65536"/>
                <a:gd name="T9" fmla="*/ 0 w 960"/>
                <a:gd name="T10" fmla="*/ 0 h 256"/>
                <a:gd name="T11" fmla="*/ 960 w 960"/>
                <a:gd name="T12" fmla="*/ 256 h 2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0" h="256">
                  <a:moveTo>
                    <a:pt x="0" y="256"/>
                  </a:moveTo>
                  <a:cubicBezTo>
                    <a:pt x="136" y="144"/>
                    <a:pt x="272" y="32"/>
                    <a:pt x="432" y="16"/>
                  </a:cubicBezTo>
                  <a:cubicBezTo>
                    <a:pt x="592" y="0"/>
                    <a:pt x="872" y="136"/>
                    <a:pt x="960" y="160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GB"/>
            </a:p>
          </p:txBody>
        </p:sp>
        <p:pic>
          <p:nvPicPr>
            <p:cNvPr id="85" name="Picture 83" descr="j0251109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3262" y="3177"/>
              <a:ext cx="610" cy="7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86" name="Group 84"/>
            <p:cNvGrpSpPr>
              <a:grpSpLocks/>
            </p:cNvGrpSpPr>
            <p:nvPr/>
          </p:nvGrpSpPr>
          <p:grpSpPr bwMode="auto">
            <a:xfrm>
              <a:off x="4176" y="3190"/>
              <a:ext cx="1200" cy="432"/>
              <a:chOff x="4176" y="3216"/>
              <a:chExt cx="1200" cy="432"/>
            </a:xfrm>
          </p:grpSpPr>
          <p:sp>
            <p:nvSpPr>
              <p:cNvPr id="110" name="Oval 85"/>
              <p:cNvSpPr>
                <a:spLocks noChangeArrowheads="1"/>
              </p:cNvSpPr>
              <p:nvPr/>
            </p:nvSpPr>
            <p:spPr bwMode="auto">
              <a:xfrm>
                <a:off x="4176" y="3216"/>
                <a:ext cx="1200" cy="432"/>
              </a:xfrm>
              <a:prstGeom prst="ellipse">
                <a:avLst/>
              </a:prstGeom>
              <a:solidFill>
                <a:srgbClr val="EAEAEA"/>
              </a:solidFill>
              <a:ln w="25400">
                <a:solidFill>
                  <a:srgbClr val="11111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11" name="Text Box 86"/>
              <p:cNvSpPr txBox="1">
                <a:spLocks noChangeArrowheads="1"/>
              </p:cNvSpPr>
              <p:nvPr/>
            </p:nvSpPr>
            <p:spPr bwMode="auto">
              <a:xfrm>
                <a:off x="4354" y="3288"/>
                <a:ext cx="858" cy="28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b="1">
                    <a:solidFill>
                      <a:srgbClr val="333333"/>
                    </a:solidFill>
                    <a:latin typeface="Comic Sans MS" charset="0"/>
                  </a:rPr>
                  <a:t>UniGene</a:t>
                </a:r>
              </a:p>
            </p:txBody>
          </p:sp>
        </p:grpSp>
        <p:sp useBgFill="1">
          <p:nvSpPr>
            <p:cNvPr id="87" name="Text Box 87"/>
            <p:cNvSpPr txBox="1">
              <a:spLocks noChangeArrowheads="1"/>
            </p:cNvSpPr>
            <p:nvPr/>
          </p:nvSpPr>
          <p:spPr bwMode="auto">
            <a:xfrm>
              <a:off x="3152" y="1920"/>
              <a:ext cx="662" cy="192"/>
            </a:xfrm>
            <a:prstGeom prst="rect">
              <a:avLst/>
            </a:prstGeom>
            <a:ln w="254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2000" b="1">
                  <a:solidFill>
                    <a:schemeClr val="tx2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Comic Sans MS" pitchFamily="-106" charset="0"/>
                  <a:ea typeface="+mn-ea"/>
                </a:rPr>
                <a:t>Curators</a:t>
              </a:r>
            </a:p>
          </p:txBody>
        </p:sp>
        <p:sp>
          <p:nvSpPr>
            <p:cNvPr id="88" name="Freeform 88"/>
            <p:cNvSpPr>
              <a:spLocks/>
            </p:cNvSpPr>
            <p:nvPr/>
          </p:nvSpPr>
          <p:spPr bwMode="auto">
            <a:xfrm>
              <a:off x="3492" y="2120"/>
              <a:ext cx="800" cy="962"/>
            </a:xfrm>
            <a:custGeom>
              <a:avLst/>
              <a:gdLst>
                <a:gd name="T0" fmla="*/ 0 w 672"/>
                <a:gd name="T1" fmla="*/ 962 h 480"/>
                <a:gd name="T2" fmla="*/ 514 w 672"/>
                <a:gd name="T3" fmla="*/ 770 h 480"/>
                <a:gd name="T4" fmla="*/ 800 w 672"/>
                <a:gd name="T5" fmla="*/ 0 h 480"/>
                <a:gd name="T6" fmla="*/ 0 60000 65536"/>
                <a:gd name="T7" fmla="*/ 0 60000 65536"/>
                <a:gd name="T8" fmla="*/ 0 60000 65536"/>
                <a:gd name="T9" fmla="*/ 0 w 672"/>
                <a:gd name="T10" fmla="*/ 0 h 480"/>
                <a:gd name="T11" fmla="*/ 672 w 672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72" h="480">
                  <a:moveTo>
                    <a:pt x="0" y="480"/>
                  </a:moveTo>
                  <a:cubicBezTo>
                    <a:pt x="160" y="472"/>
                    <a:pt x="320" y="464"/>
                    <a:pt x="432" y="384"/>
                  </a:cubicBezTo>
                  <a:cubicBezTo>
                    <a:pt x="544" y="304"/>
                    <a:pt x="632" y="64"/>
                    <a:pt x="672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GB"/>
            </a:p>
          </p:txBody>
        </p:sp>
        <p:sp>
          <p:nvSpPr>
            <p:cNvPr id="89" name="Freeform 89"/>
            <p:cNvSpPr>
              <a:spLocks/>
            </p:cNvSpPr>
            <p:nvPr/>
          </p:nvSpPr>
          <p:spPr bwMode="auto">
            <a:xfrm rot="-648549">
              <a:off x="3436" y="1596"/>
              <a:ext cx="763" cy="266"/>
            </a:xfrm>
            <a:custGeom>
              <a:avLst/>
              <a:gdLst>
                <a:gd name="T0" fmla="*/ 0 w 768"/>
                <a:gd name="T1" fmla="*/ 202 h 200"/>
                <a:gd name="T2" fmla="*/ 334 w 768"/>
                <a:gd name="T3" fmla="*/ 11 h 200"/>
                <a:gd name="T4" fmla="*/ 763 w 768"/>
                <a:gd name="T5" fmla="*/ 266 h 200"/>
                <a:gd name="T6" fmla="*/ 0 60000 65536"/>
                <a:gd name="T7" fmla="*/ 0 60000 65536"/>
                <a:gd name="T8" fmla="*/ 0 60000 65536"/>
                <a:gd name="T9" fmla="*/ 0 w 768"/>
                <a:gd name="T10" fmla="*/ 0 h 200"/>
                <a:gd name="T11" fmla="*/ 768 w 768"/>
                <a:gd name="T12" fmla="*/ 200 h 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8" h="200">
                  <a:moveTo>
                    <a:pt x="0" y="152"/>
                  </a:moveTo>
                  <a:cubicBezTo>
                    <a:pt x="104" y="76"/>
                    <a:pt x="208" y="0"/>
                    <a:pt x="336" y="8"/>
                  </a:cubicBezTo>
                  <a:cubicBezTo>
                    <a:pt x="464" y="16"/>
                    <a:pt x="696" y="168"/>
                    <a:pt x="768" y="20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GB"/>
            </a:p>
          </p:txBody>
        </p:sp>
        <p:grpSp>
          <p:nvGrpSpPr>
            <p:cNvPr id="90" name="Group 90"/>
            <p:cNvGrpSpPr>
              <a:grpSpLocks/>
            </p:cNvGrpSpPr>
            <p:nvPr/>
          </p:nvGrpSpPr>
          <p:grpSpPr bwMode="auto">
            <a:xfrm>
              <a:off x="4176" y="706"/>
              <a:ext cx="1200" cy="432"/>
              <a:chOff x="4176" y="1128"/>
              <a:chExt cx="1200" cy="432"/>
            </a:xfrm>
          </p:grpSpPr>
          <p:sp>
            <p:nvSpPr>
              <p:cNvPr id="108" name="Oval 91"/>
              <p:cNvSpPr>
                <a:spLocks noChangeArrowheads="1"/>
              </p:cNvSpPr>
              <p:nvPr/>
            </p:nvSpPr>
            <p:spPr bwMode="auto">
              <a:xfrm>
                <a:off x="4176" y="1128"/>
                <a:ext cx="1200" cy="432"/>
              </a:xfrm>
              <a:prstGeom prst="ellipse">
                <a:avLst/>
              </a:prstGeom>
              <a:solidFill>
                <a:srgbClr val="EAEAEA"/>
              </a:solidFill>
              <a:ln w="25400">
                <a:solidFill>
                  <a:srgbClr val="11111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09" name="Text Box 92"/>
              <p:cNvSpPr txBox="1">
                <a:spLocks noChangeArrowheads="1"/>
              </p:cNvSpPr>
              <p:nvPr/>
            </p:nvSpPr>
            <p:spPr bwMode="auto">
              <a:xfrm>
                <a:off x="4382" y="1176"/>
                <a:ext cx="784" cy="28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b="1">
                    <a:solidFill>
                      <a:srgbClr val="333333"/>
                    </a:solidFill>
                    <a:latin typeface="Comic Sans MS" charset="0"/>
                  </a:rPr>
                  <a:t>RefSeq</a:t>
                </a:r>
              </a:p>
            </p:txBody>
          </p:sp>
        </p:grpSp>
        <p:grpSp>
          <p:nvGrpSpPr>
            <p:cNvPr id="91" name="Group 93"/>
            <p:cNvGrpSpPr>
              <a:grpSpLocks/>
            </p:cNvGrpSpPr>
            <p:nvPr/>
          </p:nvGrpSpPr>
          <p:grpSpPr bwMode="auto">
            <a:xfrm>
              <a:off x="4188" y="1726"/>
              <a:ext cx="1200" cy="432"/>
              <a:chOff x="4176" y="2112"/>
              <a:chExt cx="1200" cy="432"/>
            </a:xfrm>
          </p:grpSpPr>
          <p:sp>
            <p:nvSpPr>
              <p:cNvPr id="106" name="Oval 94"/>
              <p:cNvSpPr>
                <a:spLocks noChangeArrowheads="1"/>
              </p:cNvSpPr>
              <p:nvPr/>
            </p:nvSpPr>
            <p:spPr bwMode="auto">
              <a:xfrm>
                <a:off x="4176" y="2112"/>
                <a:ext cx="1200" cy="432"/>
              </a:xfrm>
              <a:prstGeom prst="ellipse">
                <a:avLst/>
              </a:prstGeom>
              <a:solidFill>
                <a:srgbClr val="EAEAEA"/>
              </a:solidFill>
              <a:ln w="25400">
                <a:solidFill>
                  <a:srgbClr val="11111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07" name="Text Box 95"/>
              <p:cNvSpPr txBox="1">
                <a:spLocks noChangeArrowheads="1"/>
              </p:cNvSpPr>
              <p:nvPr/>
            </p:nvSpPr>
            <p:spPr bwMode="auto">
              <a:xfrm>
                <a:off x="4371" y="2142"/>
                <a:ext cx="829" cy="366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sz="2000" b="1">
                    <a:solidFill>
                      <a:srgbClr val="333333"/>
                    </a:solidFill>
                    <a:latin typeface="Comic Sans MS" charset="0"/>
                  </a:rPr>
                  <a:t>Genome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sz="2000" b="1">
                    <a:solidFill>
                      <a:srgbClr val="333333"/>
                    </a:solidFill>
                    <a:latin typeface="Comic Sans MS" charset="0"/>
                  </a:rPr>
                  <a:t>Assembly</a:t>
                </a:r>
              </a:p>
            </p:txBody>
          </p:sp>
        </p:grpSp>
        <p:sp>
          <p:nvSpPr>
            <p:cNvPr id="92" name="Text Box 96"/>
            <p:cNvSpPr txBox="1">
              <a:spLocks noChangeArrowheads="1"/>
            </p:cNvSpPr>
            <p:nvPr/>
          </p:nvSpPr>
          <p:spPr bwMode="auto">
            <a:xfrm>
              <a:off x="4296" y="1162"/>
              <a:ext cx="808" cy="40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 b="1"/>
                <a:t>TATAGCCG</a:t>
              </a:r>
            </a:p>
            <a:p>
              <a:r>
                <a:rPr lang="en-US" sz="1200" b="1"/>
                <a:t>AGCTCCGATA</a:t>
              </a:r>
            </a:p>
            <a:p>
              <a:r>
                <a:rPr lang="en-US" sz="1200" b="1"/>
                <a:t>CCGATGACAA</a:t>
              </a:r>
            </a:p>
          </p:txBody>
        </p:sp>
        <p:sp>
          <p:nvSpPr>
            <p:cNvPr id="93" name="Line 97"/>
            <p:cNvSpPr>
              <a:spLocks noChangeShapeType="1"/>
            </p:cNvSpPr>
            <p:nvPr/>
          </p:nvSpPr>
          <p:spPr bwMode="auto">
            <a:xfrm>
              <a:off x="4368" y="2254"/>
              <a:ext cx="10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94" name="Line 98"/>
            <p:cNvSpPr>
              <a:spLocks noChangeShapeType="1"/>
            </p:cNvSpPr>
            <p:nvPr/>
          </p:nvSpPr>
          <p:spPr bwMode="auto">
            <a:xfrm>
              <a:off x="4464" y="2350"/>
              <a:ext cx="10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95" name="Line 99"/>
            <p:cNvSpPr>
              <a:spLocks noChangeShapeType="1"/>
            </p:cNvSpPr>
            <p:nvPr/>
          </p:nvSpPr>
          <p:spPr bwMode="auto">
            <a:xfrm>
              <a:off x="4416" y="2446"/>
              <a:ext cx="10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96" name="Line 100"/>
            <p:cNvSpPr>
              <a:spLocks noChangeShapeType="1"/>
            </p:cNvSpPr>
            <p:nvPr/>
          </p:nvSpPr>
          <p:spPr bwMode="auto">
            <a:xfrm>
              <a:off x="4512" y="3718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97" name="Line 101"/>
            <p:cNvSpPr>
              <a:spLocks noChangeShapeType="1"/>
            </p:cNvSpPr>
            <p:nvPr/>
          </p:nvSpPr>
          <p:spPr bwMode="auto">
            <a:xfrm>
              <a:off x="4512" y="3814"/>
              <a:ext cx="1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98" name="Line 102"/>
            <p:cNvSpPr>
              <a:spLocks noChangeShapeType="1"/>
            </p:cNvSpPr>
            <p:nvPr/>
          </p:nvSpPr>
          <p:spPr bwMode="auto">
            <a:xfrm>
              <a:off x="4512" y="3862"/>
              <a:ext cx="1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99" name="Line 103"/>
            <p:cNvSpPr>
              <a:spLocks noChangeShapeType="1"/>
            </p:cNvSpPr>
            <p:nvPr/>
          </p:nvSpPr>
          <p:spPr bwMode="auto">
            <a:xfrm>
              <a:off x="4512" y="3910"/>
              <a:ext cx="1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00" name="Line 104"/>
            <p:cNvSpPr>
              <a:spLocks noChangeShapeType="1"/>
            </p:cNvSpPr>
            <p:nvPr/>
          </p:nvSpPr>
          <p:spPr bwMode="auto">
            <a:xfrm>
              <a:off x="4512" y="3958"/>
              <a:ext cx="1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01" name="Line 105"/>
            <p:cNvSpPr>
              <a:spLocks noChangeShapeType="1"/>
            </p:cNvSpPr>
            <p:nvPr/>
          </p:nvSpPr>
          <p:spPr bwMode="auto">
            <a:xfrm>
              <a:off x="4512" y="3766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02" name="Line 106"/>
            <p:cNvSpPr>
              <a:spLocks noChangeShapeType="1"/>
            </p:cNvSpPr>
            <p:nvPr/>
          </p:nvSpPr>
          <p:spPr bwMode="auto">
            <a:xfrm>
              <a:off x="4512" y="4006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03" name="Line 107"/>
            <p:cNvSpPr>
              <a:spLocks noChangeShapeType="1"/>
            </p:cNvSpPr>
            <p:nvPr/>
          </p:nvSpPr>
          <p:spPr bwMode="auto">
            <a:xfrm>
              <a:off x="4512" y="4054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04" name="Line 108"/>
            <p:cNvSpPr>
              <a:spLocks noChangeShapeType="1"/>
            </p:cNvSpPr>
            <p:nvPr/>
          </p:nvSpPr>
          <p:spPr bwMode="auto">
            <a:xfrm>
              <a:off x="4512" y="4102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pic>
          <p:nvPicPr>
            <p:cNvPr id="105" name="Picture 109" descr="PE01561_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2980" y="1312"/>
              <a:ext cx="960" cy="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80" name="Text Box 110"/>
          <p:cNvSpPr txBox="1">
            <a:spLocks noChangeArrowheads="1"/>
          </p:cNvSpPr>
          <p:nvPr/>
        </p:nvSpPr>
        <p:spPr bwMode="auto">
          <a:xfrm>
            <a:off x="4929733" y="3429000"/>
            <a:ext cx="1514475" cy="16160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endParaRPr lang="en-US" sz="2000" dirty="0">
              <a:solidFill>
                <a:srgbClr val="FFFF00"/>
              </a:solidFill>
              <a:latin typeface="Comic Sans MS" charset="0"/>
              <a:ea typeface="ＭＳ Ｐゴシック" charset="-128"/>
            </a:endParaRPr>
          </a:p>
          <a:p>
            <a:r>
              <a:rPr lang="en-US" sz="2000" dirty="0">
                <a:solidFill>
                  <a:schemeClr val="bg1"/>
                </a:solidFill>
                <a:latin typeface="Comic Sans MS" charset="0"/>
                <a:ea typeface="ＭＳ Ｐゴシック" charset="-128"/>
              </a:rPr>
              <a:t>Updated </a:t>
            </a:r>
          </a:p>
          <a:p>
            <a:r>
              <a:rPr lang="en-US" sz="2000" dirty="0">
                <a:solidFill>
                  <a:schemeClr val="bg1"/>
                </a:solidFill>
                <a:latin typeface="Comic Sans MS" charset="0"/>
                <a:ea typeface="ＭＳ Ｐゴシック" charset="-128"/>
              </a:rPr>
              <a:t>continually </a:t>
            </a:r>
          </a:p>
          <a:p>
            <a:r>
              <a:rPr lang="en-US" sz="2000" dirty="0">
                <a:solidFill>
                  <a:schemeClr val="bg1"/>
                </a:solidFill>
                <a:latin typeface="Comic Sans MS" charset="0"/>
                <a:ea typeface="ＭＳ Ｐゴシック" charset="-128"/>
              </a:rPr>
              <a:t>by NCBI</a:t>
            </a:r>
          </a:p>
          <a:p>
            <a:endParaRPr lang="en-US" sz="2000" dirty="0">
              <a:solidFill>
                <a:schemeClr val="bg1"/>
              </a:solidFill>
              <a:latin typeface="Comic Sans MS" charset="0"/>
              <a:ea typeface="ＭＳ Ｐゴシック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genbankgrowth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1039" t="3814" b="3908"/>
          <a:stretch>
            <a:fillRect/>
          </a:stretch>
        </p:blipFill>
        <p:spPr>
          <a:xfrm>
            <a:off x="14506" y="548679"/>
            <a:ext cx="6474174" cy="6192689"/>
          </a:xfrm>
        </p:spPr>
      </p:pic>
      <p:sp>
        <p:nvSpPr>
          <p:cNvPr id="6" name="TextBox 5"/>
          <p:cNvSpPr txBox="1"/>
          <p:nvPr/>
        </p:nvSpPr>
        <p:spPr>
          <a:xfrm>
            <a:off x="5868144" y="1412776"/>
            <a:ext cx="32403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smtClean="0">
                <a:effectLst/>
              </a:rPr>
              <a:t>“</a:t>
            </a:r>
            <a:r>
              <a:rPr lang="en-US" sz="2000" dirty="0" smtClean="0">
                <a:solidFill>
                  <a:srgbClr val="FF0000"/>
                </a:solidFill>
                <a:effectLst/>
              </a:rPr>
              <a:t>We are swimming in a rapidly rising sea of data...</a:t>
            </a:r>
          </a:p>
          <a:p>
            <a:pPr algn="just"/>
            <a:r>
              <a:rPr lang="en-US" sz="2000" dirty="0" smtClean="0">
                <a:solidFill>
                  <a:srgbClr val="FF0000"/>
                </a:solidFill>
                <a:effectLst/>
              </a:rPr>
              <a:t> how do we keep from drowning?</a:t>
            </a:r>
            <a:r>
              <a:rPr lang="en-US" sz="2000" dirty="0" smtClean="0">
                <a:effectLst/>
              </a:rPr>
              <a:t>”</a:t>
            </a:r>
            <a:endParaRPr lang="en-IN" sz="2000" dirty="0">
              <a:effectLst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28184" y="2636912"/>
            <a:ext cx="29158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 smtClean="0">
                <a:solidFill>
                  <a:srgbClr val="FF0000"/>
                </a:solidFill>
                <a:effectLst/>
              </a:rPr>
              <a:t>— </a:t>
            </a:r>
            <a:r>
              <a:rPr lang="en-US" sz="2000" dirty="0" err="1" smtClean="0">
                <a:solidFill>
                  <a:srgbClr val="FF0000"/>
                </a:solidFill>
                <a:effectLst/>
              </a:rPr>
              <a:t>Roos</a:t>
            </a:r>
            <a:r>
              <a:rPr lang="en-US" sz="2000" dirty="0" smtClean="0">
                <a:solidFill>
                  <a:srgbClr val="FF0000"/>
                </a:solidFill>
                <a:effectLst/>
              </a:rPr>
              <a:t> (2001). </a:t>
            </a:r>
            <a:r>
              <a:rPr lang="en-US" sz="2000" i="1" dirty="0" smtClean="0">
                <a:solidFill>
                  <a:srgbClr val="FF0000"/>
                </a:solidFill>
                <a:effectLst/>
              </a:rPr>
              <a:t>Science</a:t>
            </a:r>
            <a:r>
              <a:rPr lang="en-US" sz="2000" dirty="0" smtClean="0">
                <a:solidFill>
                  <a:srgbClr val="FF0000"/>
                </a:solidFill>
                <a:effectLst/>
              </a:rPr>
              <a:t>. </a:t>
            </a:r>
            <a:r>
              <a:rPr lang="en-US" sz="2000" b="1" dirty="0" smtClean="0">
                <a:solidFill>
                  <a:srgbClr val="FF0000"/>
                </a:solidFill>
                <a:effectLst/>
              </a:rPr>
              <a:t>291</a:t>
            </a:r>
            <a:r>
              <a:rPr lang="en-US" sz="2000" dirty="0" smtClean="0">
                <a:solidFill>
                  <a:srgbClr val="FF0000"/>
                </a:solidFill>
                <a:effectLst/>
              </a:rPr>
              <a:t>:1260</a:t>
            </a:r>
            <a:endParaRPr lang="en-IN" sz="2000" dirty="0">
              <a:solidFill>
                <a:srgbClr val="FF0000"/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7826375" cy="1202655"/>
          </a:xfrm>
        </p:spPr>
        <p:txBody>
          <a:bodyPr/>
          <a:lstStyle/>
          <a:p>
            <a:pPr algn="ctr"/>
            <a:r>
              <a:rPr lang="en-AU" sz="4800" dirty="0" err="1" smtClean="0"/>
              <a:t>GenBank</a:t>
            </a:r>
            <a:r>
              <a:rPr lang="en-AU" sz="4800" dirty="0" smtClean="0"/>
              <a:t> – Primary Sequence DB</a:t>
            </a:r>
            <a:endParaRPr lang="en-IN" sz="4800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z="3200" dirty="0" smtClean="0"/>
              <a:t>Nucleotide only sequence database</a:t>
            </a:r>
          </a:p>
          <a:p>
            <a:r>
              <a:rPr lang="en-AU" sz="3200" dirty="0" smtClean="0"/>
              <a:t>Archival in nature </a:t>
            </a:r>
          </a:p>
          <a:p>
            <a:pPr lvl="1"/>
            <a:r>
              <a:rPr lang="en-AU" sz="2400" dirty="0" smtClean="0"/>
              <a:t>Reflective of submitter point of view </a:t>
            </a:r>
          </a:p>
          <a:p>
            <a:pPr lvl="1"/>
            <a:r>
              <a:rPr lang="en-AU" sz="2400" dirty="0" smtClean="0"/>
              <a:t>Redundant </a:t>
            </a:r>
          </a:p>
          <a:p>
            <a:pPr lvl="1"/>
            <a:r>
              <a:rPr lang="en-AU" sz="2400" dirty="0" smtClean="0"/>
              <a:t>Direct submissions (traditional records)</a:t>
            </a:r>
          </a:p>
          <a:p>
            <a:pPr lvl="1"/>
            <a:r>
              <a:rPr lang="en-AU" sz="2400" dirty="0" smtClean="0"/>
              <a:t>Batch submissions</a:t>
            </a:r>
          </a:p>
          <a:p>
            <a:pPr lvl="1"/>
            <a:r>
              <a:rPr lang="en-AU" sz="2400" dirty="0" smtClean="0"/>
              <a:t>FTP accounts (genome data)</a:t>
            </a:r>
          </a:p>
          <a:p>
            <a:pPr marL="341313" lvl="1" indent="-341313">
              <a:buChar char="•"/>
            </a:pPr>
            <a:r>
              <a:rPr lang="en-AU" sz="2500" dirty="0" smtClean="0">
                <a:ea typeface="+mn-ea"/>
                <a:cs typeface="+mn-cs"/>
              </a:rPr>
              <a:t>Collaboration</a:t>
            </a:r>
            <a:endParaRPr lang="en-IN" sz="2500" dirty="0" smtClean="0">
              <a:ea typeface="+mn-ea"/>
              <a:cs typeface="+mn-cs"/>
            </a:endParaRPr>
          </a:p>
          <a:p>
            <a:pPr marL="739776" lvl="2" indent="-341313"/>
            <a:r>
              <a:rPr lang="en-AU" sz="2500" dirty="0" smtClean="0">
                <a:ea typeface="+mn-ea"/>
                <a:cs typeface="+mn-cs"/>
              </a:rPr>
              <a:t>DNA Databank of Japan (DDBJ)</a:t>
            </a:r>
          </a:p>
          <a:p>
            <a:pPr marL="739776" lvl="2" indent="-341313"/>
            <a:r>
              <a:rPr lang="en-AU" sz="2500" dirty="0" smtClean="0">
                <a:ea typeface="+mn-ea"/>
                <a:cs typeface="+mn-cs"/>
              </a:rPr>
              <a:t>European Molecular Biology laboratory (EMBL) Database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827584" y="116632"/>
            <a:ext cx="7470775" cy="914400"/>
          </a:xfrm>
        </p:spPr>
        <p:txBody>
          <a:bodyPr/>
          <a:lstStyle/>
          <a:p>
            <a:pPr algn="ctr">
              <a:defRPr/>
            </a:pPr>
            <a:r>
              <a:rPr lang="en-US" sz="4800" dirty="0" err="1" smtClean="0"/>
              <a:t>GenBank</a:t>
            </a:r>
            <a:r>
              <a:rPr lang="en-US" sz="4800" dirty="0" smtClean="0"/>
              <a:t> file format</a:t>
            </a:r>
          </a:p>
        </p:txBody>
      </p:sp>
      <p:pic>
        <p:nvPicPr>
          <p:cNvPr id="38915" name="Picture 3"/>
          <p:cNvPicPr>
            <a:picLocks noChangeAspect="1" noChangeArrowheads="1"/>
          </p:cNvPicPr>
          <p:nvPr/>
        </p:nvPicPr>
        <p:blipFill>
          <a:blip r:embed="rId3" cstate="print"/>
          <a:srcRect l="951" t="10468" r="4037" b="4298"/>
          <a:stretch>
            <a:fillRect/>
          </a:stretch>
        </p:blipFill>
        <p:spPr bwMode="auto">
          <a:xfrm>
            <a:off x="228600" y="1054100"/>
            <a:ext cx="6172200" cy="35179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771524" name="Text Box 4"/>
          <p:cNvSpPr txBox="1">
            <a:spLocks noChangeArrowheads="1"/>
          </p:cNvSpPr>
          <p:nvPr/>
        </p:nvSpPr>
        <p:spPr bwMode="auto">
          <a:xfrm>
            <a:off x="533400" y="2495550"/>
            <a:ext cx="8001000" cy="1030288"/>
          </a:xfrm>
          <a:prstGeom prst="rect">
            <a:avLst/>
          </a:prstGeom>
          <a:ln w="25400">
            <a:solidFill>
              <a:schemeClr val="tx1"/>
            </a:solidFill>
            <a:miter lim="800000"/>
            <a:headEnd/>
            <a:tailEnd/>
          </a:ln>
          <a:effectLst/>
        </p:spPr>
        <p:style>
          <a:lnRef idx="0">
            <a:scrgbClr r="0" g="0" b="0"/>
          </a:lnRef>
          <a:fillRef idx="1002">
            <a:schemeClr val="lt1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2400" b="1" dirty="0">
                <a:effectLst/>
                <a:latin typeface="Courier New" charset="0"/>
              </a:rPr>
              <a:t>ACCESSION   U07418</a:t>
            </a:r>
          </a:p>
          <a:p>
            <a:pPr>
              <a:spcBef>
                <a:spcPct val="50000"/>
              </a:spcBef>
            </a:pPr>
            <a:r>
              <a:rPr lang="fr-FR" sz="2400" b="1" dirty="0">
                <a:effectLst/>
                <a:latin typeface="Courier New" charset="0"/>
              </a:rPr>
              <a:t>VERSION     U07418.1  GI:466461</a:t>
            </a:r>
            <a:endParaRPr lang="en-US" sz="2400" b="1" dirty="0">
              <a:effectLst/>
              <a:latin typeface="Courier New" charset="0"/>
            </a:endParaRPr>
          </a:p>
        </p:txBody>
      </p:sp>
      <p:sp>
        <p:nvSpPr>
          <p:cNvPr id="1771525" name="AutoShape 5"/>
          <p:cNvSpPr>
            <a:spLocks noChangeArrowheads="1"/>
          </p:cNvSpPr>
          <p:nvPr/>
        </p:nvSpPr>
        <p:spPr bwMode="auto">
          <a:xfrm>
            <a:off x="6248400" y="1889180"/>
            <a:ext cx="1779984" cy="1446550"/>
          </a:xfrm>
          <a:prstGeom prst="wedgeRectCallout">
            <a:avLst>
              <a:gd name="adj1" fmla="val -199546"/>
              <a:gd name="adj2" fmla="val 12792"/>
            </a:avLst>
          </a:prstGeom>
          <a:ln w="25400">
            <a:solidFill>
              <a:schemeClr val="tx1"/>
            </a:solidFill>
            <a:miter lim="800000"/>
            <a:headEnd/>
            <a:tailEnd/>
          </a:ln>
          <a:effectLst/>
        </p:spPr>
        <p:style>
          <a:lnRef idx="0">
            <a:scrgbClr r="0" g="0" b="0"/>
          </a:lnRef>
          <a:fillRef idx="1002">
            <a:schemeClr val="lt1"/>
          </a:fillRef>
          <a:effectRef idx="0">
            <a:scrgbClr r="0" g="0" b="0"/>
          </a:effectRef>
          <a:fontRef idx="major"/>
        </p:style>
        <p:txBody>
          <a:bodyPr wrap="square" anchor="ctr">
            <a:spAutoFit/>
          </a:bodyPr>
          <a:lstStyle/>
          <a:p>
            <a:pPr>
              <a:defRPr/>
            </a:pPr>
            <a:r>
              <a:rPr lang="en-US" b="1" u="sng" dirty="0">
                <a:effectLst/>
                <a:ea typeface="+mn-ea"/>
              </a:rPr>
              <a:t>Accession</a:t>
            </a:r>
          </a:p>
          <a:p>
            <a:pPr>
              <a:buFontTx/>
              <a:buChar char="•"/>
              <a:defRPr/>
            </a:pPr>
            <a:r>
              <a:rPr lang="en-US" dirty="0">
                <a:effectLst/>
                <a:ea typeface="+mn-ea"/>
              </a:rPr>
              <a:t>Stable</a:t>
            </a:r>
          </a:p>
          <a:p>
            <a:pPr>
              <a:buFontTx/>
              <a:buChar char="•"/>
              <a:defRPr/>
            </a:pPr>
            <a:r>
              <a:rPr lang="en-US" dirty="0">
                <a:effectLst/>
                <a:ea typeface="+mn-ea"/>
              </a:rPr>
              <a:t>Reportable</a:t>
            </a:r>
          </a:p>
          <a:p>
            <a:pPr>
              <a:buFontTx/>
              <a:buChar char="•"/>
              <a:defRPr/>
            </a:pPr>
            <a:r>
              <a:rPr lang="en-US" dirty="0">
                <a:effectLst/>
                <a:ea typeface="+mn-ea"/>
              </a:rPr>
              <a:t>Universal</a:t>
            </a:r>
          </a:p>
        </p:txBody>
      </p:sp>
      <p:sp>
        <p:nvSpPr>
          <p:cNvPr id="1771526" name="AutoShape 6"/>
          <p:cNvSpPr>
            <a:spLocks noChangeArrowheads="1"/>
          </p:cNvSpPr>
          <p:nvPr/>
        </p:nvSpPr>
        <p:spPr bwMode="auto">
          <a:xfrm>
            <a:off x="179512" y="3739679"/>
            <a:ext cx="3830960" cy="769441"/>
          </a:xfrm>
          <a:prstGeom prst="wedgeRectCallout">
            <a:avLst>
              <a:gd name="adj1" fmla="val 43838"/>
              <a:gd name="adj2" fmla="val -94523"/>
            </a:avLst>
          </a:prstGeom>
          <a:ln w="25400">
            <a:solidFill>
              <a:schemeClr val="tx1"/>
            </a:solidFill>
            <a:miter lim="800000"/>
            <a:headEnd/>
            <a:tailEnd/>
          </a:ln>
          <a:effectLst/>
        </p:spPr>
        <p:style>
          <a:lnRef idx="0">
            <a:scrgbClr r="0" g="0" b="0"/>
          </a:lnRef>
          <a:fillRef idx="1002">
            <a:schemeClr val="lt1"/>
          </a:fillRef>
          <a:effectRef idx="0">
            <a:scrgbClr r="0" g="0" b="0"/>
          </a:effectRef>
          <a:fontRef idx="major"/>
        </p:style>
        <p:txBody>
          <a:bodyPr wrap="square" anchor="ctr">
            <a:spAutoFit/>
          </a:bodyPr>
          <a:lstStyle/>
          <a:p>
            <a:pPr>
              <a:defRPr/>
            </a:pPr>
            <a:r>
              <a:rPr lang="en-US" b="1" u="sng" dirty="0">
                <a:effectLst/>
                <a:ea typeface="+mn-ea"/>
              </a:rPr>
              <a:t>Version</a:t>
            </a:r>
          </a:p>
          <a:p>
            <a:pPr>
              <a:defRPr/>
            </a:pPr>
            <a:r>
              <a:rPr lang="en-US" dirty="0">
                <a:effectLst/>
                <a:ea typeface="+mn-ea"/>
              </a:rPr>
              <a:t>Tracks changes in </a:t>
            </a:r>
            <a:r>
              <a:rPr lang="en-US" u="sng" dirty="0">
                <a:effectLst/>
                <a:ea typeface="+mn-ea"/>
              </a:rPr>
              <a:t>sequence</a:t>
            </a:r>
          </a:p>
        </p:txBody>
      </p:sp>
      <p:sp>
        <p:nvSpPr>
          <p:cNvPr id="1771527" name="AutoShape 7"/>
          <p:cNvSpPr>
            <a:spLocks noChangeArrowheads="1"/>
          </p:cNvSpPr>
          <p:nvPr/>
        </p:nvSpPr>
        <p:spPr bwMode="auto">
          <a:xfrm>
            <a:off x="4845050" y="3777705"/>
            <a:ext cx="2463254" cy="769441"/>
          </a:xfrm>
          <a:prstGeom prst="wedgeRectCallout">
            <a:avLst>
              <a:gd name="adj1" fmla="val -5556"/>
              <a:gd name="adj2" fmla="val -107380"/>
            </a:avLst>
          </a:prstGeom>
          <a:ln w="25400">
            <a:solidFill>
              <a:schemeClr val="tx1"/>
            </a:solidFill>
            <a:miter lim="800000"/>
            <a:headEnd/>
            <a:tailEnd/>
          </a:ln>
          <a:effectLst/>
        </p:spPr>
        <p:style>
          <a:lnRef idx="0">
            <a:scrgbClr r="0" g="0" b="0"/>
          </a:lnRef>
          <a:fillRef idx="1002">
            <a:schemeClr val="lt1"/>
          </a:fillRef>
          <a:effectRef idx="0">
            <a:scrgbClr r="0" g="0" b="0"/>
          </a:effectRef>
          <a:fontRef idx="major"/>
        </p:style>
        <p:txBody>
          <a:bodyPr wrap="square" anchor="ctr">
            <a:spAutoFit/>
          </a:bodyPr>
          <a:lstStyle/>
          <a:p>
            <a:r>
              <a:rPr lang="en-US" b="1" u="sng" dirty="0">
                <a:effectLst/>
              </a:rPr>
              <a:t>GI number</a:t>
            </a:r>
          </a:p>
          <a:p>
            <a:r>
              <a:rPr lang="en-US" dirty="0">
                <a:effectLst/>
              </a:rPr>
              <a:t>NCBI internal use</a:t>
            </a:r>
            <a:endParaRPr lang="en-US" u="sng" dirty="0">
              <a:effectLst/>
            </a:endParaRPr>
          </a:p>
        </p:txBody>
      </p:sp>
      <p:pic>
        <p:nvPicPr>
          <p:cNvPr id="1771528" name="Picture 8"/>
          <p:cNvPicPr>
            <a:picLocks noChangeAspect="1" noChangeArrowheads="1"/>
          </p:cNvPicPr>
          <p:nvPr/>
        </p:nvPicPr>
        <p:blipFill>
          <a:blip r:embed="rId4" cstate="print"/>
          <a:srcRect l="1152" t="9744" r="2304" b="4585"/>
          <a:stretch>
            <a:fillRect/>
          </a:stretch>
        </p:blipFill>
        <p:spPr bwMode="auto">
          <a:xfrm>
            <a:off x="2362200" y="1700808"/>
            <a:ext cx="5830888" cy="41624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771529" name="AutoShape 9"/>
          <p:cNvSpPr>
            <a:spLocks noChangeArrowheads="1"/>
          </p:cNvSpPr>
          <p:nvPr/>
        </p:nvSpPr>
        <p:spPr bwMode="auto">
          <a:xfrm>
            <a:off x="1404888" y="5482555"/>
            <a:ext cx="2159000" cy="466725"/>
          </a:xfrm>
          <a:prstGeom prst="wedgeRectCallout">
            <a:avLst>
              <a:gd name="adj1" fmla="val 46472"/>
              <a:gd name="adj2" fmla="val -106463"/>
            </a:avLst>
          </a:prstGeom>
          <a:ln w="9525">
            <a:solidFill>
              <a:schemeClr val="tx1"/>
            </a:solidFill>
            <a:miter lim="800000"/>
            <a:headEnd/>
            <a:tailEnd/>
          </a:ln>
          <a:effectLst/>
        </p:spPr>
        <p:style>
          <a:lnRef idx="0">
            <a:scrgbClr r="0" g="0" b="0"/>
          </a:lnRef>
          <a:fillRef idx="1002">
            <a:schemeClr val="lt1"/>
          </a:fillRef>
          <a:effectRef idx="0">
            <a:scrgbClr r="0" g="0" b="0"/>
          </a:effectRef>
          <a:fontRef idx="major"/>
        </p:style>
        <p:txBody>
          <a:bodyPr wrap="none">
            <a:spAutoFit/>
          </a:bodyPr>
          <a:lstStyle/>
          <a:p>
            <a:pPr algn="ctr">
              <a:defRPr/>
            </a:pPr>
            <a:r>
              <a:rPr lang="en-US" sz="2400" dirty="0">
                <a:effectLst/>
                <a:ea typeface="+mn-ea"/>
              </a:rPr>
              <a:t>well annotated</a:t>
            </a:r>
          </a:p>
        </p:txBody>
      </p:sp>
      <p:pic>
        <p:nvPicPr>
          <p:cNvPr id="1771530" name="Picture 10"/>
          <p:cNvPicPr>
            <a:picLocks noChangeAspect="1" noChangeArrowheads="1"/>
          </p:cNvPicPr>
          <p:nvPr/>
        </p:nvPicPr>
        <p:blipFill>
          <a:blip r:embed="rId5" cstate="print"/>
          <a:srcRect l="1456" t="6747" r="3519" b="5190"/>
          <a:stretch>
            <a:fillRect/>
          </a:stretch>
        </p:blipFill>
        <p:spPr bwMode="auto">
          <a:xfrm>
            <a:off x="4343400" y="2286967"/>
            <a:ext cx="4310063" cy="46704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771531" name="AutoShape 11"/>
          <p:cNvSpPr>
            <a:spLocks noChangeArrowheads="1"/>
          </p:cNvSpPr>
          <p:nvPr/>
        </p:nvSpPr>
        <p:spPr bwMode="auto">
          <a:xfrm>
            <a:off x="481211" y="6130627"/>
            <a:ext cx="3514725" cy="466725"/>
          </a:xfrm>
          <a:prstGeom prst="wedgeRectCallout">
            <a:avLst>
              <a:gd name="adj1" fmla="val 66106"/>
              <a:gd name="adj2" fmla="val -123130"/>
            </a:avLst>
          </a:prstGeom>
          <a:ln w="9525">
            <a:solidFill>
              <a:schemeClr val="tx1"/>
            </a:solidFill>
            <a:miter lim="800000"/>
            <a:headEnd/>
            <a:tailEnd/>
          </a:ln>
          <a:effectLst/>
        </p:spPr>
        <p:style>
          <a:lnRef idx="0">
            <a:scrgbClr r="0" g="0" b="0"/>
          </a:lnRef>
          <a:fillRef idx="1002">
            <a:schemeClr val="lt1"/>
          </a:fillRef>
          <a:effectRef idx="0">
            <a:scrgbClr r="0" g="0" b="0"/>
          </a:effectRef>
          <a:fontRef idx="major"/>
        </p:style>
        <p:txBody>
          <a:bodyPr wrap="none">
            <a:spAutoFit/>
          </a:bodyPr>
          <a:lstStyle/>
          <a:p>
            <a:pPr algn="ctr">
              <a:defRPr/>
            </a:pPr>
            <a:r>
              <a:rPr lang="en-US" sz="2400" dirty="0">
                <a:effectLst/>
                <a:ea typeface="+mn-ea"/>
              </a:rPr>
              <a:t>the sequence is the data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771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771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771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771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24" grpId="0" animBg="1"/>
      <p:bldP spid="1771525" grpId="0" animBg="1"/>
      <p:bldP spid="1771526" grpId="0" animBg="1"/>
      <p:bldP spid="1771527" grpId="0" animBg="1"/>
      <p:bldP spid="1771529" grpId="0" animBg="1"/>
      <p:bldP spid="177153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 cstate="print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0"/>
          <p:cNvGrpSpPr/>
          <p:nvPr/>
        </p:nvGrpSpPr>
        <p:grpSpPr>
          <a:xfrm>
            <a:off x="142844" y="771548"/>
            <a:ext cx="8843994" cy="5943600"/>
            <a:chOff x="228600" y="609600"/>
            <a:chExt cx="8843994" cy="5943600"/>
          </a:xfrm>
        </p:grpSpPr>
        <p:sp>
          <p:nvSpPr>
            <p:cNvPr id="29699" name="Rectangle 2"/>
            <p:cNvSpPr>
              <a:spLocks noChangeArrowheads="1"/>
            </p:cNvSpPr>
            <p:nvPr/>
          </p:nvSpPr>
          <p:spPr bwMode="auto">
            <a:xfrm>
              <a:off x="3214678" y="2346723"/>
              <a:ext cx="1928818" cy="58221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square" lIns="90488" tIns="44450" rIns="90488" bIns="44450">
              <a:spAutoFit/>
            </a:bodyPr>
            <a:lstStyle/>
            <a:p>
              <a:r>
                <a:rPr lang="en-US" altLang="zh-CN" sz="3200" dirty="0" err="1">
                  <a:effectLst/>
                  <a:ea typeface="宋体" pitchFamily="2" charset="-122"/>
                </a:rPr>
                <a:t>GenBank</a:t>
              </a:r>
              <a:endParaRPr lang="en-US" altLang="zh-CN" sz="3200" dirty="0">
                <a:effectLst/>
                <a:ea typeface="宋体" pitchFamily="2" charset="-122"/>
              </a:endParaRPr>
            </a:p>
          </p:txBody>
        </p:sp>
        <p:sp>
          <p:nvSpPr>
            <p:cNvPr id="29700" name="Rectangle 3"/>
            <p:cNvSpPr>
              <a:spLocks noChangeArrowheads="1"/>
            </p:cNvSpPr>
            <p:nvPr/>
          </p:nvSpPr>
          <p:spPr bwMode="auto">
            <a:xfrm>
              <a:off x="3525838" y="4061235"/>
              <a:ext cx="1255153" cy="58221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3200">
                  <a:effectLst/>
                  <a:ea typeface="宋体" pitchFamily="2" charset="-122"/>
                </a:rPr>
                <a:t>DDBJ</a:t>
              </a:r>
            </a:p>
          </p:txBody>
        </p:sp>
        <p:sp>
          <p:nvSpPr>
            <p:cNvPr id="29701" name="Rectangle 4"/>
            <p:cNvSpPr>
              <a:spLocks noChangeArrowheads="1"/>
            </p:cNvSpPr>
            <p:nvPr/>
          </p:nvSpPr>
          <p:spPr bwMode="auto">
            <a:xfrm>
              <a:off x="4772161" y="3233738"/>
              <a:ext cx="1300037" cy="58221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3200" dirty="0">
                  <a:effectLst/>
                  <a:ea typeface="宋体" pitchFamily="2" charset="-122"/>
                </a:rPr>
                <a:t>EMBL</a:t>
              </a:r>
            </a:p>
          </p:txBody>
        </p:sp>
        <p:sp>
          <p:nvSpPr>
            <p:cNvPr id="29702" name="Oval 5"/>
            <p:cNvSpPr>
              <a:spLocks noChangeArrowheads="1"/>
            </p:cNvSpPr>
            <p:nvPr/>
          </p:nvSpPr>
          <p:spPr bwMode="auto">
            <a:xfrm>
              <a:off x="2940050" y="1797050"/>
              <a:ext cx="3263900" cy="32639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>
                <a:effectLst/>
              </a:endParaRPr>
            </a:p>
          </p:txBody>
        </p:sp>
        <p:sp>
          <p:nvSpPr>
            <p:cNvPr id="35846" name="Rectangle 6"/>
            <p:cNvSpPr>
              <a:spLocks noChangeArrowheads="1"/>
            </p:cNvSpPr>
            <p:nvPr/>
          </p:nvSpPr>
          <p:spPr bwMode="auto">
            <a:xfrm>
              <a:off x="7065963" y="5572125"/>
              <a:ext cx="1874837" cy="82073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defRPr/>
              </a:pPr>
              <a:r>
                <a:rPr lang="en-US" altLang="zh-CN" sz="4800">
                  <a:effectLst/>
                  <a:ea typeface="宋体" pitchFamily="2" charset="-122"/>
                </a:rPr>
                <a:t>EMBL</a:t>
              </a:r>
            </a:p>
          </p:txBody>
        </p:sp>
        <p:sp>
          <p:nvSpPr>
            <p:cNvPr id="29704" name="Rectangle 7"/>
            <p:cNvSpPr>
              <a:spLocks noChangeArrowheads="1"/>
            </p:cNvSpPr>
            <p:nvPr/>
          </p:nvSpPr>
          <p:spPr bwMode="auto">
            <a:xfrm>
              <a:off x="3789363" y="741363"/>
              <a:ext cx="998672" cy="42832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i="1">
                  <a:effectLst/>
                  <a:ea typeface="宋体" pitchFamily="2" charset="-122"/>
                </a:rPr>
                <a:t>Entrez</a:t>
              </a:r>
            </a:p>
          </p:txBody>
        </p:sp>
        <p:sp>
          <p:nvSpPr>
            <p:cNvPr id="29705" name="Rectangle 8"/>
            <p:cNvSpPr>
              <a:spLocks noChangeArrowheads="1"/>
            </p:cNvSpPr>
            <p:nvPr/>
          </p:nvSpPr>
          <p:spPr bwMode="auto">
            <a:xfrm>
              <a:off x="5846763" y="5286694"/>
              <a:ext cx="761428" cy="42832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i="1">
                  <a:effectLst/>
                  <a:ea typeface="宋体" pitchFamily="2" charset="-122"/>
                </a:rPr>
                <a:t>SRS</a:t>
              </a:r>
            </a:p>
          </p:txBody>
        </p:sp>
        <p:sp>
          <p:nvSpPr>
            <p:cNvPr id="29706" name="Rectangle 9"/>
            <p:cNvSpPr>
              <a:spLocks noChangeArrowheads="1"/>
            </p:cNvSpPr>
            <p:nvPr/>
          </p:nvSpPr>
          <p:spPr bwMode="auto">
            <a:xfrm>
              <a:off x="1579563" y="5846763"/>
              <a:ext cx="1203857" cy="42832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i="1">
                  <a:effectLst/>
                  <a:ea typeface="宋体" pitchFamily="2" charset="-122"/>
                </a:rPr>
                <a:t>getentry</a:t>
              </a:r>
            </a:p>
          </p:txBody>
        </p:sp>
        <p:sp>
          <p:nvSpPr>
            <p:cNvPr id="35850" name="Rectangle 10"/>
            <p:cNvSpPr>
              <a:spLocks noChangeArrowheads="1"/>
            </p:cNvSpPr>
            <p:nvPr/>
          </p:nvSpPr>
          <p:spPr bwMode="auto">
            <a:xfrm>
              <a:off x="228600" y="4800600"/>
              <a:ext cx="1277595" cy="82843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defRPr/>
              </a:pPr>
              <a:r>
                <a:rPr lang="en-US" altLang="zh-CN" sz="4800" dirty="0">
                  <a:effectLst/>
                  <a:ea typeface="宋体" pitchFamily="2" charset="-122"/>
                </a:rPr>
                <a:t>NIG</a:t>
              </a:r>
            </a:p>
          </p:txBody>
        </p:sp>
        <p:sp>
          <p:nvSpPr>
            <p:cNvPr id="29708" name="Rectangle 11"/>
            <p:cNvSpPr>
              <a:spLocks noChangeArrowheads="1"/>
            </p:cNvSpPr>
            <p:nvPr/>
          </p:nvSpPr>
          <p:spPr bwMode="auto">
            <a:xfrm>
              <a:off x="1808163" y="4322763"/>
              <a:ext cx="652424" cy="42832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>
                  <a:effectLst/>
                  <a:ea typeface="宋体" pitchFamily="2" charset="-122"/>
                </a:rPr>
                <a:t>CIB</a:t>
              </a:r>
            </a:p>
          </p:txBody>
        </p:sp>
        <p:sp>
          <p:nvSpPr>
            <p:cNvPr id="29709" name="Oval 12"/>
            <p:cNvSpPr>
              <a:spLocks noChangeArrowheads="1"/>
            </p:cNvSpPr>
            <p:nvPr/>
          </p:nvSpPr>
          <p:spPr bwMode="auto">
            <a:xfrm>
              <a:off x="1530350" y="4044950"/>
              <a:ext cx="1282700" cy="9017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>
                <a:effectLst/>
              </a:endParaRPr>
            </a:p>
          </p:txBody>
        </p:sp>
        <p:grpSp>
          <p:nvGrpSpPr>
            <p:cNvPr id="3" name="Group 13"/>
            <p:cNvGrpSpPr>
              <a:grpSpLocks/>
            </p:cNvGrpSpPr>
            <p:nvPr/>
          </p:nvGrpSpPr>
          <p:grpSpPr bwMode="auto">
            <a:xfrm>
              <a:off x="6575448" y="4170374"/>
              <a:ext cx="1282700" cy="901700"/>
              <a:chOff x="4036" y="2500"/>
              <a:chExt cx="808" cy="568"/>
            </a:xfrm>
          </p:grpSpPr>
          <p:sp>
            <p:nvSpPr>
              <p:cNvPr id="29735" name="Rectangle 14"/>
              <p:cNvSpPr>
                <a:spLocks noChangeArrowheads="1"/>
              </p:cNvSpPr>
              <p:nvPr/>
            </p:nvSpPr>
            <p:spPr bwMode="auto">
              <a:xfrm>
                <a:off x="4211" y="2675"/>
                <a:ext cx="401" cy="27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>
                    <a:effectLst/>
                    <a:ea typeface="宋体" pitchFamily="2" charset="-122"/>
                  </a:rPr>
                  <a:t>EBI</a:t>
                </a:r>
              </a:p>
            </p:txBody>
          </p:sp>
          <p:sp>
            <p:nvSpPr>
              <p:cNvPr id="29736" name="Oval 15"/>
              <p:cNvSpPr>
                <a:spLocks noChangeArrowheads="1"/>
              </p:cNvSpPr>
              <p:nvPr/>
            </p:nvSpPr>
            <p:spPr bwMode="auto">
              <a:xfrm>
                <a:off x="4036" y="2500"/>
                <a:ext cx="808" cy="56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>
                  <a:effectLst/>
                </a:endParaRPr>
              </a:p>
            </p:txBody>
          </p:sp>
        </p:grpSp>
        <p:sp>
          <p:nvSpPr>
            <p:cNvPr id="29711" name="Rectangle 16"/>
            <p:cNvSpPr>
              <a:spLocks noChangeArrowheads="1"/>
            </p:cNvSpPr>
            <p:nvPr/>
          </p:nvSpPr>
          <p:spPr bwMode="auto">
            <a:xfrm>
              <a:off x="2265363" y="1808163"/>
              <a:ext cx="856005" cy="42832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dirty="0">
                  <a:effectLst/>
                  <a:ea typeface="宋体" pitchFamily="2" charset="-122"/>
                </a:rPr>
                <a:t>NCBI</a:t>
              </a:r>
            </a:p>
          </p:txBody>
        </p:sp>
        <p:sp>
          <p:nvSpPr>
            <p:cNvPr id="35857" name="Rectangle 17"/>
            <p:cNvSpPr>
              <a:spLocks noChangeArrowheads="1"/>
            </p:cNvSpPr>
            <p:nvPr/>
          </p:nvSpPr>
          <p:spPr bwMode="auto">
            <a:xfrm>
              <a:off x="817563" y="771525"/>
              <a:ext cx="1263650" cy="82073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defRPr/>
              </a:pPr>
              <a:r>
                <a:rPr lang="en-US" altLang="zh-CN" sz="4800">
                  <a:effectLst/>
                  <a:ea typeface="宋体" pitchFamily="2" charset="-122"/>
                </a:rPr>
                <a:t>NIH</a:t>
              </a:r>
            </a:p>
          </p:txBody>
        </p:sp>
        <p:sp>
          <p:nvSpPr>
            <p:cNvPr id="29713" name="Oval 18"/>
            <p:cNvSpPr>
              <a:spLocks noChangeArrowheads="1"/>
            </p:cNvSpPr>
            <p:nvPr/>
          </p:nvSpPr>
          <p:spPr bwMode="auto">
            <a:xfrm>
              <a:off x="2063750" y="1606550"/>
              <a:ext cx="1282700" cy="9017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>
                <a:effectLst/>
              </a:endParaRPr>
            </a:p>
          </p:txBody>
        </p:sp>
        <p:sp>
          <p:nvSpPr>
            <p:cNvPr id="29714" name="Line 19"/>
            <p:cNvSpPr>
              <a:spLocks noChangeShapeType="1"/>
            </p:cNvSpPr>
            <p:nvPr/>
          </p:nvSpPr>
          <p:spPr bwMode="auto">
            <a:xfrm flipH="1">
              <a:off x="1600200" y="4953000"/>
              <a:ext cx="762000" cy="838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>
                <a:effectLst/>
              </a:endParaRPr>
            </a:p>
          </p:txBody>
        </p:sp>
        <p:sp>
          <p:nvSpPr>
            <p:cNvPr id="29715" name="Line 20"/>
            <p:cNvSpPr>
              <a:spLocks noChangeShapeType="1"/>
            </p:cNvSpPr>
            <p:nvPr/>
          </p:nvSpPr>
          <p:spPr bwMode="auto">
            <a:xfrm flipV="1">
              <a:off x="3200400" y="1219200"/>
              <a:ext cx="304800" cy="5461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>
                <a:effectLst/>
              </a:endParaRPr>
            </a:p>
          </p:txBody>
        </p:sp>
        <p:sp>
          <p:nvSpPr>
            <p:cNvPr id="29716" name="Line 21"/>
            <p:cNvSpPr>
              <a:spLocks noChangeShapeType="1"/>
            </p:cNvSpPr>
            <p:nvPr/>
          </p:nvSpPr>
          <p:spPr bwMode="auto">
            <a:xfrm flipV="1">
              <a:off x="5500694" y="4838712"/>
              <a:ext cx="114300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>
                <a:effectLst/>
              </a:endParaRPr>
            </a:p>
          </p:txBody>
        </p:sp>
        <p:sp>
          <p:nvSpPr>
            <p:cNvPr id="29717" name="Rectangle 22"/>
            <p:cNvSpPr>
              <a:spLocks noChangeArrowheads="1"/>
            </p:cNvSpPr>
            <p:nvPr/>
          </p:nvSpPr>
          <p:spPr bwMode="auto">
            <a:xfrm>
              <a:off x="284163" y="2601913"/>
              <a:ext cx="1881926" cy="699166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90000"/>
                </a:lnSpc>
                <a:buFontTx/>
                <a:buChar char="•"/>
              </a:pPr>
              <a:r>
                <a:rPr lang="en-US" altLang="zh-CN">
                  <a:effectLst/>
                  <a:ea typeface="宋体" pitchFamily="2" charset="-122"/>
                </a:rPr>
                <a:t>Submissions</a:t>
              </a:r>
            </a:p>
            <a:p>
              <a:pPr>
                <a:lnSpc>
                  <a:spcPct val="90000"/>
                </a:lnSpc>
                <a:buFontTx/>
                <a:buChar char="•"/>
              </a:pPr>
              <a:r>
                <a:rPr lang="en-US" altLang="zh-CN">
                  <a:effectLst/>
                  <a:ea typeface="宋体" pitchFamily="2" charset="-122"/>
                </a:rPr>
                <a:t>Updates</a:t>
              </a:r>
            </a:p>
          </p:txBody>
        </p:sp>
        <p:sp>
          <p:nvSpPr>
            <p:cNvPr id="29718" name="Arc 23"/>
            <p:cNvSpPr>
              <a:spLocks/>
            </p:cNvSpPr>
            <p:nvPr/>
          </p:nvSpPr>
          <p:spPr bwMode="auto">
            <a:xfrm>
              <a:off x="1828800" y="2514600"/>
              <a:ext cx="984250" cy="603250"/>
            </a:xfrm>
            <a:custGeom>
              <a:avLst/>
              <a:gdLst>
                <a:gd name="T0" fmla="*/ 984250 w 21600"/>
                <a:gd name="T1" fmla="*/ 0 h 21600"/>
                <a:gd name="T2" fmla="*/ 0 w 21600"/>
                <a:gd name="T3" fmla="*/ 60325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28575" cap="rnd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en-IN">
                <a:effectLst/>
              </a:endParaRPr>
            </a:p>
          </p:txBody>
        </p:sp>
        <p:sp>
          <p:nvSpPr>
            <p:cNvPr id="29719" name="Arc 24"/>
            <p:cNvSpPr>
              <a:spLocks/>
            </p:cNvSpPr>
            <p:nvPr/>
          </p:nvSpPr>
          <p:spPr bwMode="auto">
            <a:xfrm rot="-5400000">
              <a:off x="3314700" y="1866900"/>
              <a:ext cx="527050" cy="527050"/>
            </a:xfrm>
            <a:custGeom>
              <a:avLst/>
              <a:gdLst>
                <a:gd name="T0" fmla="*/ 527050 w 21600"/>
                <a:gd name="T1" fmla="*/ 0 h 21600"/>
                <a:gd name="T2" fmla="*/ 0 w 21600"/>
                <a:gd name="T3" fmla="*/ 52705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28575" cap="rnd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>
                <a:effectLst/>
              </a:endParaRPr>
            </a:p>
          </p:txBody>
        </p:sp>
        <p:sp>
          <p:nvSpPr>
            <p:cNvPr id="29720" name="Arc 25"/>
            <p:cNvSpPr>
              <a:spLocks/>
            </p:cNvSpPr>
            <p:nvPr/>
          </p:nvSpPr>
          <p:spPr bwMode="auto">
            <a:xfrm rot="2361747">
              <a:off x="2881313" y="3930650"/>
              <a:ext cx="527050" cy="606425"/>
            </a:xfrm>
            <a:custGeom>
              <a:avLst/>
              <a:gdLst>
                <a:gd name="T0" fmla="*/ 521096 w 21600"/>
                <a:gd name="T1" fmla="*/ 0 h 24834"/>
                <a:gd name="T2" fmla="*/ 0 w 21600"/>
                <a:gd name="T3" fmla="*/ 606425 h 24834"/>
                <a:gd name="T4" fmla="*/ 0 w 21600"/>
                <a:gd name="T5" fmla="*/ 78972 h 24834"/>
                <a:gd name="T6" fmla="*/ 0 60000 65536"/>
                <a:gd name="T7" fmla="*/ 0 60000 65536"/>
                <a:gd name="T8" fmla="*/ 0 60000 65536"/>
                <a:gd name="T9" fmla="*/ 0 w 21600"/>
                <a:gd name="T10" fmla="*/ 0 h 24834"/>
                <a:gd name="T11" fmla="*/ 21600 w 21600"/>
                <a:gd name="T12" fmla="*/ 24834 h 248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4834" fill="none" extrusionOk="0">
                  <a:moveTo>
                    <a:pt x="21356" y="-1"/>
                  </a:moveTo>
                  <a:cubicBezTo>
                    <a:pt x="21518" y="1070"/>
                    <a:pt x="21600" y="2151"/>
                    <a:pt x="21600" y="3234"/>
                  </a:cubicBezTo>
                  <a:cubicBezTo>
                    <a:pt x="21600" y="15163"/>
                    <a:pt x="11929" y="24833"/>
                    <a:pt x="0" y="24834"/>
                  </a:cubicBezTo>
                </a:path>
                <a:path w="21600" h="24834" stroke="0" extrusionOk="0">
                  <a:moveTo>
                    <a:pt x="21356" y="-1"/>
                  </a:moveTo>
                  <a:cubicBezTo>
                    <a:pt x="21518" y="1070"/>
                    <a:pt x="21600" y="2151"/>
                    <a:pt x="21600" y="3234"/>
                  </a:cubicBezTo>
                  <a:cubicBezTo>
                    <a:pt x="21600" y="15163"/>
                    <a:pt x="11929" y="24833"/>
                    <a:pt x="0" y="24834"/>
                  </a:cubicBezTo>
                  <a:lnTo>
                    <a:pt x="0" y="3234"/>
                  </a:lnTo>
                  <a:close/>
                </a:path>
              </a:pathLst>
            </a:custGeom>
            <a:noFill/>
            <a:ln w="28575" cap="rnd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en-IN">
                <a:effectLst/>
              </a:endParaRPr>
            </a:p>
          </p:txBody>
        </p:sp>
        <p:sp>
          <p:nvSpPr>
            <p:cNvPr id="29721" name="Rectangle 26"/>
            <p:cNvSpPr>
              <a:spLocks noChangeArrowheads="1"/>
            </p:cNvSpPr>
            <p:nvPr/>
          </p:nvSpPr>
          <p:spPr bwMode="auto">
            <a:xfrm>
              <a:off x="7190668" y="2801272"/>
              <a:ext cx="1881926" cy="699166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90000"/>
                </a:lnSpc>
                <a:buFontTx/>
                <a:buChar char="•"/>
              </a:pPr>
              <a:r>
                <a:rPr lang="en-US" altLang="zh-CN">
                  <a:effectLst/>
                  <a:ea typeface="宋体" pitchFamily="2" charset="-122"/>
                </a:rPr>
                <a:t>Submissions</a:t>
              </a:r>
            </a:p>
            <a:p>
              <a:pPr>
                <a:lnSpc>
                  <a:spcPct val="90000"/>
                </a:lnSpc>
                <a:buFontTx/>
                <a:buChar char="•"/>
              </a:pPr>
              <a:r>
                <a:rPr lang="en-US" altLang="zh-CN">
                  <a:effectLst/>
                  <a:ea typeface="宋体" pitchFamily="2" charset="-122"/>
                </a:rPr>
                <a:t>Updates</a:t>
              </a:r>
            </a:p>
          </p:txBody>
        </p:sp>
        <p:sp>
          <p:nvSpPr>
            <p:cNvPr id="29722" name="Rectangle 27"/>
            <p:cNvSpPr>
              <a:spLocks noChangeArrowheads="1"/>
            </p:cNvSpPr>
            <p:nvPr/>
          </p:nvSpPr>
          <p:spPr bwMode="auto">
            <a:xfrm>
              <a:off x="3048000" y="5143512"/>
              <a:ext cx="1881926" cy="699166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90000"/>
                </a:lnSpc>
                <a:buFontTx/>
                <a:buChar char="•"/>
              </a:pPr>
              <a:r>
                <a:rPr lang="en-US" altLang="zh-CN" dirty="0">
                  <a:effectLst/>
                  <a:ea typeface="宋体" pitchFamily="2" charset="-122"/>
                </a:rPr>
                <a:t>Submissions</a:t>
              </a:r>
            </a:p>
            <a:p>
              <a:pPr>
                <a:lnSpc>
                  <a:spcPct val="90000"/>
                </a:lnSpc>
                <a:buFontTx/>
                <a:buChar char="•"/>
              </a:pPr>
              <a:r>
                <a:rPr lang="en-US" altLang="zh-CN" dirty="0">
                  <a:effectLst/>
                  <a:ea typeface="宋体" pitchFamily="2" charset="-122"/>
                </a:rPr>
                <a:t>Updates</a:t>
              </a:r>
            </a:p>
          </p:txBody>
        </p:sp>
        <p:sp>
          <p:nvSpPr>
            <p:cNvPr id="29723" name="Arc 28"/>
            <p:cNvSpPr>
              <a:spLocks/>
            </p:cNvSpPr>
            <p:nvPr/>
          </p:nvSpPr>
          <p:spPr bwMode="auto">
            <a:xfrm>
              <a:off x="2598738" y="4800600"/>
              <a:ext cx="527050" cy="603250"/>
            </a:xfrm>
            <a:custGeom>
              <a:avLst/>
              <a:gdLst>
                <a:gd name="T0" fmla="*/ 527050 w 21600"/>
                <a:gd name="T1" fmla="*/ 603250 h 21600"/>
                <a:gd name="T2" fmla="*/ 0 w 21600"/>
                <a:gd name="T3" fmla="*/ 0 h 21600"/>
                <a:gd name="T4" fmla="*/ 52705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28575" cap="rnd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>
                <a:effectLst/>
              </a:endParaRPr>
            </a:p>
          </p:txBody>
        </p:sp>
        <p:sp>
          <p:nvSpPr>
            <p:cNvPr id="29724" name="Arc 29"/>
            <p:cNvSpPr>
              <a:spLocks/>
            </p:cNvSpPr>
            <p:nvPr/>
          </p:nvSpPr>
          <p:spPr bwMode="auto">
            <a:xfrm rot="-5400000">
              <a:off x="7589838" y="3657600"/>
              <a:ext cx="908050" cy="603250"/>
            </a:xfrm>
            <a:custGeom>
              <a:avLst/>
              <a:gdLst>
                <a:gd name="T0" fmla="*/ 908050 w 21600"/>
                <a:gd name="T1" fmla="*/ 603250 h 21600"/>
                <a:gd name="T2" fmla="*/ 0 w 21600"/>
                <a:gd name="T3" fmla="*/ 0 h 21600"/>
                <a:gd name="T4" fmla="*/ 90805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28575" cap="rnd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>
                <a:effectLst/>
              </a:endParaRPr>
            </a:p>
          </p:txBody>
        </p:sp>
        <p:sp>
          <p:nvSpPr>
            <p:cNvPr id="29725" name="Arc 30"/>
            <p:cNvSpPr>
              <a:spLocks/>
            </p:cNvSpPr>
            <p:nvPr/>
          </p:nvSpPr>
          <p:spPr bwMode="auto">
            <a:xfrm rot="-5400000">
              <a:off x="6020609" y="3520287"/>
              <a:ext cx="776288" cy="755650"/>
            </a:xfrm>
            <a:custGeom>
              <a:avLst/>
              <a:gdLst>
                <a:gd name="T0" fmla="*/ 776288 w 23348"/>
                <a:gd name="T1" fmla="*/ 0 h 21600"/>
                <a:gd name="T2" fmla="*/ 0 w 23348"/>
                <a:gd name="T3" fmla="*/ 753166 h 21600"/>
                <a:gd name="T4" fmla="*/ 58119 w 23348"/>
                <a:gd name="T5" fmla="*/ 0 h 21600"/>
                <a:gd name="T6" fmla="*/ 0 60000 65536"/>
                <a:gd name="T7" fmla="*/ 0 60000 65536"/>
                <a:gd name="T8" fmla="*/ 0 60000 65536"/>
                <a:gd name="T9" fmla="*/ 0 w 23348"/>
                <a:gd name="T10" fmla="*/ 0 h 21600"/>
                <a:gd name="T11" fmla="*/ 23348 w 2334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348" h="21600" fill="none" extrusionOk="0">
                  <a:moveTo>
                    <a:pt x="23348" y="0"/>
                  </a:moveTo>
                  <a:cubicBezTo>
                    <a:pt x="23348" y="11929"/>
                    <a:pt x="13677" y="21600"/>
                    <a:pt x="1748" y="21600"/>
                  </a:cubicBezTo>
                  <a:cubicBezTo>
                    <a:pt x="1164" y="21600"/>
                    <a:pt x="581" y="21576"/>
                    <a:pt x="-1" y="21529"/>
                  </a:cubicBezTo>
                </a:path>
                <a:path w="23348" h="21600" stroke="0" extrusionOk="0">
                  <a:moveTo>
                    <a:pt x="23348" y="0"/>
                  </a:moveTo>
                  <a:cubicBezTo>
                    <a:pt x="23348" y="11929"/>
                    <a:pt x="13677" y="21600"/>
                    <a:pt x="1748" y="21600"/>
                  </a:cubicBezTo>
                  <a:cubicBezTo>
                    <a:pt x="1164" y="21600"/>
                    <a:pt x="581" y="21576"/>
                    <a:pt x="-1" y="21529"/>
                  </a:cubicBezTo>
                  <a:lnTo>
                    <a:pt x="1748" y="0"/>
                  </a:lnTo>
                  <a:close/>
                </a:path>
              </a:pathLst>
            </a:custGeom>
            <a:noFill/>
            <a:ln w="28575" cap="rnd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en-IN">
                <a:effectLst/>
              </a:endParaRPr>
            </a:p>
          </p:txBody>
        </p:sp>
        <p:sp>
          <p:nvSpPr>
            <p:cNvPr id="29726" name="Line 31"/>
            <p:cNvSpPr>
              <a:spLocks noChangeShapeType="1"/>
            </p:cNvSpPr>
            <p:nvPr/>
          </p:nvSpPr>
          <p:spPr bwMode="auto">
            <a:xfrm flipV="1">
              <a:off x="228600" y="3733800"/>
              <a:ext cx="2743200" cy="228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IN">
                <a:effectLst/>
              </a:endParaRPr>
            </a:p>
          </p:txBody>
        </p:sp>
        <p:sp>
          <p:nvSpPr>
            <p:cNvPr id="29727" name="Line 32"/>
            <p:cNvSpPr>
              <a:spLocks noChangeShapeType="1"/>
            </p:cNvSpPr>
            <p:nvPr/>
          </p:nvSpPr>
          <p:spPr bwMode="auto">
            <a:xfrm flipV="1">
              <a:off x="5791200" y="990600"/>
              <a:ext cx="1752600" cy="1371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IN">
                <a:effectLst/>
              </a:endParaRPr>
            </a:p>
          </p:txBody>
        </p:sp>
        <p:sp>
          <p:nvSpPr>
            <p:cNvPr id="29728" name="Line 33"/>
            <p:cNvSpPr>
              <a:spLocks noChangeShapeType="1"/>
            </p:cNvSpPr>
            <p:nvPr/>
          </p:nvSpPr>
          <p:spPr bwMode="auto">
            <a:xfrm>
              <a:off x="5029200" y="5029200"/>
              <a:ext cx="152400" cy="1524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IN">
                <a:effectLst/>
              </a:endParaRPr>
            </a:p>
          </p:txBody>
        </p:sp>
        <p:sp>
          <p:nvSpPr>
            <p:cNvPr id="29729" name="AutoShape 34"/>
            <p:cNvSpPr>
              <a:spLocks noChangeArrowheads="1"/>
            </p:cNvSpPr>
            <p:nvPr/>
          </p:nvSpPr>
          <p:spPr bwMode="auto">
            <a:xfrm>
              <a:off x="5286380" y="5144796"/>
              <a:ext cx="1600200" cy="685800"/>
            </a:xfrm>
            <a:prstGeom prst="doubleWave">
              <a:avLst>
                <a:gd name="adj1" fmla="val 6500"/>
                <a:gd name="adj2" fmla="val -2380"/>
              </a:avLst>
            </a:pr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IN">
                <a:effectLst/>
              </a:endParaRPr>
            </a:p>
          </p:txBody>
        </p:sp>
        <p:sp>
          <p:nvSpPr>
            <p:cNvPr id="29730" name="AutoShape 35"/>
            <p:cNvSpPr>
              <a:spLocks noChangeArrowheads="1"/>
            </p:cNvSpPr>
            <p:nvPr/>
          </p:nvSpPr>
          <p:spPr bwMode="auto">
            <a:xfrm>
              <a:off x="3505200" y="609600"/>
              <a:ext cx="1600200" cy="685800"/>
            </a:xfrm>
            <a:prstGeom prst="doubleWave">
              <a:avLst>
                <a:gd name="adj1" fmla="val 6500"/>
                <a:gd name="adj2" fmla="val -2380"/>
              </a:avLst>
            </a:pr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IN">
                <a:effectLst/>
              </a:endParaRPr>
            </a:p>
          </p:txBody>
        </p:sp>
        <p:sp>
          <p:nvSpPr>
            <p:cNvPr id="29731" name="AutoShape 36"/>
            <p:cNvSpPr>
              <a:spLocks noChangeArrowheads="1"/>
            </p:cNvSpPr>
            <p:nvPr/>
          </p:nvSpPr>
          <p:spPr bwMode="auto">
            <a:xfrm>
              <a:off x="1447800" y="5791200"/>
              <a:ext cx="1600200" cy="685800"/>
            </a:xfrm>
            <a:prstGeom prst="doubleWave">
              <a:avLst>
                <a:gd name="adj1" fmla="val 6500"/>
                <a:gd name="adj2" fmla="val -2380"/>
              </a:avLst>
            </a:pr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IN">
                <a:effectLst/>
              </a:endParaRPr>
            </a:p>
          </p:txBody>
        </p:sp>
        <p:sp>
          <p:nvSpPr>
            <p:cNvPr id="29732" name="Arc 37"/>
            <p:cNvSpPr>
              <a:spLocks/>
            </p:cNvSpPr>
            <p:nvPr/>
          </p:nvSpPr>
          <p:spPr bwMode="auto">
            <a:xfrm rot="-5400000">
              <a:off x="5054600" y="2549524"/>
              <a:ext cx="717550" cy="755650"/>
            </a:xfrm>
            <a:custGeom>
              <a:avLst/>
              <a:gdLst>
                <a:gd name="T0" fmla="*/ 717550 w 21600"/>
                <a:gd name="T1" fmla="*/ 0 h 21600"/>
                <a:gd name="T2" fmla="*/ 0 w 21600"/>
                <a:gd name="T3" fmla="*/ 75565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28575" cap="rnd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en-IN">
                <a:effectLst/>
              </a:endParaRPr>
            </a:p>
          </p:txBody>
        </p:sp>
        <p:sp>
          <p:nvSpPr>
            <p:cNvPr id="29733" name="Arc 38"/>
            <p:cNvSpPr>
              <a:spLocks/>
            </p:cNvSpPr>
            <p:nvPr/>
          </p:nvSpPr>
          <p:spPr bwMode="auto">
            <a:xfrm rot="8867080">
              <a:off x="3298254" y="3033353"/>
              <a:ext cx="717550" cy="685800"/>
            </a:xfrm>
            <a:custGeom>
              <a:avLst/>
              <a:gdLst>
                <a:gd name="T0" fmla="*/ 717550 w 21600"/>
                <a:gd name="T1" fmla="*/ 0 h 19590"/>
                <a:gd name="T2" fmla="*/ 302235 w 21600"/>
                <a:gd name="T3" fmla="*/ 685800 h 19590"/>
                <a:gd name="T4" fmla="*/ 0 w 21600"/>
                <a:gd name="T5" fmla="*/ 0 h 19590"/>
                <a:gd name="T6" fmla="*/ 0 60000 65536"/>
                <a:gd name="T7" fmla="*/ 0 60000 65536"/>
                <a:gd name="T8" fmla="*/ 0 60000 65536"/>
                <a:gd name="T9" fmla="*/ 0 w 21600"/>
                <a:gd name="T10" fmla="*/ 0 h 19590"/>
                <a:gd name="T11" fmla="*/ 21600 w 21600"/>
                <a:gd name="T12" fmla="*/ 19590 h 195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9590" fill="none" extrusionOk="0">
                  <a:moveTo>
                    <a:pt x="21600" y="0"/>
                  </a:moveTo>
                  <a:cubicBezTo>
                    <a:pt x="21600" y="8406"/>
                    <a:pt x="16722" y="16049"/>
                    <a:pt x="9098" y="19590"/>
                  </a:cubicBezTo>
                </a:path>
                <a:path w="21600" h="19590" stroke="0" extrusionOk="0">
                  <a:moveTo>
                    <a:pt x="21600" y="0"/>
                  </a:moveTo>
                  <a:cubicBezTo>
                    <a:pt x="21600" y="8406"/>
                    <a:pt x="16722" y="16049"/>
                    <a:pt x="9098" y="1959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28575" cap="rnd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en-IN">
                <a:effectLst/>
              </a:endParaRPr>
            </a:p>
          </p:txBody>
        </p:sp>
        <p:sp>
          <p:nvSpPr>
            <p:cNvPr id="29734" name="Arc 39"/>
            <p:cNvSpPr>
              <a:spLocks/>
            </p:cNvSpPr>
            <p:nvPr/>
          </p:nvSpPr>
          <p:spPr bwMode="auto">
            <a:xfrm rot="1307505">
              <a:off x="4882834" y="3749504"/>
              <a:ext cx="717550" cy="755650"/>
            </a:xfrm>
            <a:custGeom>
              <a:avLst/>
              <a:gdLst>
                <a:gd name="T0" fmla="*/ 717550 w 21600"/>
                <a:gd name="T1" fmla="*/ 0 h 21600"/>
                <a:gd name="T2" fmla="*/ 0 w 21600"/>
                <a:gd name="T3" fmla="*/ 75565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28575" cap="rnd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en-IN">
                <a:effectLst/>
              </a:endParaRPr>
            </a:p>
          </p:txBody>
        </p:sp>
      </p:grpSp>
      <p:sp>
        <p:nvSpPr>
          <p:cNvPr id="42" name="Title 1"/>
          <p:cNvSpPr>
            <a:spLocks noGrp="1"/>
          </p:cNvSpPr>
          <p:nvPr>
            <p:ph type="title"/>
          </p:nvPr>
        </p:nvSpPr>
        <p:spPr>
          <a:xfrm>
            <a:off x="857224" y="-24"/>
            <a:ext cx="7826375" cy="81203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AU" sz="4800" dirty="0" smtClean="0">
                <a:solidFill>
                  <a:schemeClr val="tx1"/>
                </a:solidFill>
              </a:rPr>
              <a:t>Collaborating  Databases</a:t>
            </a:r>
            <a:endParaRPr lang="en-IN" sz="48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Ensemble and Ensemble Genomes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5075" y="1268760"/>
            <a:ext cx="7551738" cy="5589240"/>
          </a:xfrm>
        </p:spPr>
        <p:txBody>
          <a:bodyPr/>
          <a:lstStyle/>
          <a:p>
            <a:r>
              <a:rPr lang="en-AU" dirty="0" err="1" smtClean="0"/>
              <a:t>Ensembl</a:t>
            </a:r>
            <a:r>
              <a:rPr lang="en-AU" dirty="0" smtClean="0"/>
              <a:t> provides a genome browser with information such as gene sequence, splice variants, sequence polymorphisms, comparative analysis and sequences implicated in gene regulation for mostly vertebrate organism</a:t>
            </a:r>
          </a:p>
          <a:p>
            <a:r>
              <a:rPr lang="en-AU" dirty="0" smtClean="0"/>
              <a:t>EBI and </a:t>
            </a:r>
            <a:r>
              <a:rPr lang="en-AU" dirty="0" err="1" smtClean="0"/>
              <a:t>Wellcome</a:t>
            </a:r>
            <a:r>
              <a:rPr lang="en-AU" dirty="0" smtClean="0"/>
              <a:t> Trust </a:t>
            </a:r>
            <a:r>
              <a:rPr lang="en-AU" dirty="0" err="1" smtClean="0"/>
              <a:t>Sangar</a:t>
            </a:r>
            <a:r>
              <a:rPr lang="en-AU" dirty="0" smtClean="0"/>
              <a:t> Institute</a:t>
            </a:r>
          </a:p>
          <a:p>
            <a:r>
              <a:rPr lang="en-AU" dirty="0" smtClean="0"/>
              <a:t>Ensemble release 64 (September 2011), 58 species supported</a:t>
            </a:r>
          </a:p>
          <a:p>
            <a:r>
              <a:rPr lang="en-AU" dirty="0" smtClean="0"/>
              <a:t>Ensemble Genomes extend the </a:t>
            </a:r>
            <a:r>
              <a:rPr lang="en-AU" dirty="0" err="1" smtClean="0"/>
              <a:t>Ensembl</a:t>
            </a:r>
            <a:r>
              <a:rPr lang="en-AU" dirty="0" smtClean="0"/>
              <a:t> system to the invertebrate </a:t>
            </a:r>
            <a:r>
              <a:rPr lang="en-AU" dirty="0" err="1" smtClean="0"/>
              <a:t>metazoa</a:t>
            </a:r>
            <a:r>
              <a:rPr lang="en-AU" dirty="0" smtClean="0"/>
              <a:t>, </a:t>
            </a:r>
            <a:r>
              <a:rPr lang="en-AU" dirty="0" err="1" smtClean="0"/>
              <a:t>protists</a:t>
            </a:r>
            <a:r>
              <a:rPr lang="en-AU" dirty="0" smtClean="0"/>
              <a:t>, bacteria, plant and fungi</a:t>
            </a:r>
          </a:p>
          <a:p>
            <a:r>
              <a:rPr lang="en-AU" dirty="0" smtClean="0"/>
              <a:t>Since 2009 Ensemble Genomes. It can be accessed through web, </a:t>
            </a:r>
            <a:r>
              <a:rPr lang="en-AU" dirty="0" err="1" smtClean="0"/>
              <a:t>BioMart</a:t>
            </a:r>
            <a:r>
              <a:rPr lang="en-AU" dirty="0" smtClean="0"/>
              <a:t> Tools and Perl. 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 cstate="print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910" y="29004"/>
            <a:ext cx="8143933" cy="828228"/>
          </a:xfrm>
        </p:spPr>
        <p:txBody>
          <a:bodyPr/>
          <a:lstStyle/>
          <a:p>
            <a:r>
              <a:rPr lang="en-US" sz="4400" dirty="0" smtClean="0">
                <a:solidFill>
                  <a:schemeClr val="tx1"/>
                </a:solidFill>
              </a:rPr>
              <a:t>Protein Sequence Repositories</a:t>
            </a:r>
            <a:endParaRPr lang="en-IN" sz="4400" dirty="0" smtClean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9352" y="885128"/>
            <a:ext cx="7551738" cy="5972872"/>
          </a:xfrm>
        </p:spPr>
        <p:txBody>
          <a:bodyPr/>
          <a:lstStyle/>
          <a:p>
            <a:r>
              <a:rPr lang="en-US" sz="3200" dirty="0" smtClean="0">
                <a:solidFill>
                  <a:schemeClr val="tx1"/>
                </a:solidFill>
              </a:rPr>
              <a:t>PIR-PSD </a:t>
            </a:r>
          </a:p>
          <a:p>
            <a:pPr lvl="1"/>
            <a:r>
              <a:rPr lang="en-US" sz="2400" dirty="0" smtClean="0">
                <a:solidFill>
                  <a:schemeClr val="tx1"/>
                </a:solidFill>
              </a:rPr>
              <a:t>National Biomedical Research Foundation</a:t>
            </a:r>
          </a:p>
          <a:p>
            <a:pPr lvl="1"/>
            <a:r>
              <a:rPr lang="en-US" sz="2400" dirty="0" smtClean="0">
                <a:solidFill>
                  <a:schemeClr val="tx1"/>
                </a:solidFill>
              </a:rPr>
              <a:t>Non redundant, expertly annotated</a:t>
            </a:r>
            <a:r>
              <a:rPr lang="en-US" sz="2800" dirty="0" smtClean="0">
                <a:solidFill>
                  <a:schemeClr val="tx1"/>
                </a:solidFill>
              </a:rPr>
              <a:t>	   </a:t>
            </a:r>
          </a:p>
          <a:p>
            <a:r>
              <a:rPr lang="en-US" sz="3200" dirty="0" smtClean="0">
                <a:solidFill>
                  <a:schemeClr val="tx1"/>
                </a:solidFill>
              </a:rPr>
              <a:t>SWISS-PROT (1986)</a:t>
            </a:r>
          </a:p>
          <a:p>
            <a:pPr lvl="1"/>
            <a:r>
              <a:rPr lang="en-US" sz="2400" dirty="0" smtClean="0">
                <a:solidFill>
                  <a:schemeClr val="tx1"/>
                </a:solidFill>
              </a:rPr>
              <a:t>Swiss Biotechnology Institute</a:t>
            </a:r>
          </a:p>
          <a:p>
            <a:pPr lvl="1"/>
            <a:r>
              <a:rPr lang="en-US" sz="2400" dirty="0" smtClean="0">
                <a:solidFill>
                  <a:schemeClr val="tx1"/>
                </a:solidFill>
              </a:rPr>
              <a:t>Best annotated</a:t>
            </a:r>
            <a:r>
              <a:rPr lang="en-US" dirty="0" smtClean="0">
                <a:solidFill>
                  <a:schemeClr val="tx1"/>
                </a:solidFill>
              </a:rPr>
              <a:t>	</a:t>
            </a:r>
          </a:p>
          <a:p>
            <a:pPr marL="341313" lvl="1" indent="-341313">
              <a:buChar char="•"/>
            </a:pPr>
            <a:r>
              <a:rPr lang="en-US" sz="3200" dirty="0" err="1" smtClean="0">
                <a:solidFill>
                  <a:schemeClr val="tx1"/>
                </a:solidFill>
                <a:ea typeface="+mn-ea"/>
                <a:cs typeface="+mn-cs"/>
              </a:rPr>
              <a:t>TrEMBL</a:t>
            </a:r>
            <a:r>
              <a:rPr lang="en-US" sz="3200" dirty="0" smtClean="0">
                <a:solidFill>
                  <a:schemeClr val="tx1"/>
                </a:solidFill>
                <a:ea typeface="+mn-ea"/>
                <a:cs typeface="+mn-cs"/>
              </a:rPr>
              <a:t> (1996)</a:t>
            </a:r>
          </a:p>
          <a:p>
            <a:pPr lvl="1"/>
            <a:r>
              <a:rPr lang="en-US" altLang="zh-CN" sz="2400" dirty="0" smtClean="0">
                <a:solidFill>
                  <a:schemeClr val="tx1"/>
                </a:solidFill>
              </a:rPr>
              <a:t>Automatic CDS translations from EMBL   </a:t>
            </a:r>
          </a:p>
          <a:p>
            <a:pPr lvl="1"/>
            <a:r>
              <a:rPr lang="en-US" altLang="zh-CN" sz="2400" dirty="0" smtClean="0">
                <a:solidFill>
                  <a:schemeClr val="tx1"/>
                </a:solidFill>
              </a:rPr>
              <a:t>Highly redundant, many inaccuracies</a:t>
            </a:r>
          </a:p>
          <a:p>
            <a:pPr lvl="1"/>
            <a:r>
              <a:rPr lang="en-US" altLang="zh-CN" sz="2400" dirty="0" smtClean="0">
                <a:solidFill>
                  <a:schemeClr val="tx1"/>
                </a:solidFill>
              </a:rPr>
              <a:t>Not all experimentally determined</a:t>
            </a:r>
          </a:p>
          <a:p>
            <a:r>
              <a:rPr lang="en-US" altLang="zh-CN" sz="3200" dirty="0" err="1" smtClean="0">
                <a:solidFill>
                  <a:schemeClr val="tx1"/>
                </a:solidFill>
              </a:rPr>
              <a:t>Genpept</a:t>
            </a:r>
            <a:endParaRPr lang="en-US" altLang="zh-CN" sz="3200" dirty="0" smtClean="0">
              <a:solidFill>
                <a:schemeClr val="tx1"/>
              </a:solidFill>
            </a:endParaRPr>
          </a:p>
          <a:p>
            <a:pPr lvl="1"/>
            <a:r>
              <a:rPr lang="en-US" altLang="zh-CN" sz="2400" dirty="0" smtClean="0">
                <a:solidFill>
                  <a:schemeClr val="tx1"/>
                </a:solidFill>
                <a:ea typeface="宋体" pitchFamily="2" charset="-122"/>
              </a:rPr>
              <a:t>CDS from </a:t>
            </a:r>
            <a:r>
              <a:rPr lang="en-US" altLang="zh-CN" sz="2400" dirty="0" err="1" smtClean="0">
                <a:solidFill>
                  <a:schemeClr val="tx1"/>
                </a:solidFill>
                <a:ea typeface="宋体" pitchFamily="2" charset="-122"/>
              </a:rPr>
              <a:t>GenBank</a:t>
            </a:r>
            <a:r>
              <a:rPr lang="en-US" altLang="zh-CN" sz="2400" dirty="0" smtClean="0">
                <a:solidFill>
                  <a:schemeClr val="tx1"/>
                </a:solidFill>
                <a:ea typeface="宋体" pitchFamily="2" charset="-122"/>
              </a:rPr>
              <a:t> entries</a:t>
            </a:r>
          </a:p>
          <a:p>
            <a:pPr lvl="2"/>
            <a:endParaRPr lang="en-US" altLang="zh-CN" dirty="0" smtClean="0">
              <a:solidFill>
                <a:schemeClr val="tx1"/>
              </a:solidFill>
              <a:ea typeface="宋体" pitchFamily="2" charset="-122"/>
            </a:endParaRPr>
          </a:p>
          <a:p>
            <a:pPr marL="341313" lvl="1" indent="-341313">
              <a:buChar char="•"/>
            </a:pPr>
            <a:endParaRPr lang="en-US" sz="3200" dirty="0" smtClean="0">
              <a:solidFill>
                <a:schemeClr val="tx1"/>
              </a:solidFill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5075" y="1209129"/>
            <a:ext cx="7551738" cy="5648871"/>
          </a:xfrm>
        </p:spPr>
        <p:txBody>
          <a:bodyPr/>
          <a:lstStyle/>
          <a:p>
            <a:r>
              <a:rPr lang="en-US" altLang="zh-CN" sz="3200" dirty="0" err="1" smtClean="0">
                <a:ea typeface="宋体" pitchFamily="2" charset="-122"/>
              </a:rPr>
              <a:t>Uniprot</a:t>
            </a:r>
            <a:r>
              <a:rPr lang="en-US" altLang="zh-CN" sz="3200" dirty="0" smtClean="0">
                <a:ea typeface="宋体" pitchFamily="2" charset="-122"/>
              </a:rPr>
              <a:t> (2003)</a:t>
            </a:r>
          </a:p>
          <a:p>
            <a:pPr lvl="1"/>
            <a:r>
              <a:rPr lang="en-US" altLang="zh-CN" sz="2600" dirty="0" err="1" smtClean="0">
                <a:ea typeface="宋体" pitchFamily="2" charset="-122"/>
              </a:rPr>
              <a:t>UniProt</a:t>
            </a:r>
            <a:r>
              <a:rPr lang="en-US" altLang="zh-CN" sz="2600" dirty="0" smtClean="0">
                <a:ea typeface="宋体" pitchFamily="2" charset="-122"/>
              </a:rPr>
              <a:t> (Universal Protein Resource) is a central repository of protein sequence and function created by joining the information contained in Swiss-Prot, </a:t>
            </a:r>
            <a:r>
              <a:rPr lang="en-US" altLang="zh-CN" sz="2600" dirty="0" err="1" smtClean="0">
                <a:ea typeface="宋体" pitchFamily="2" charset="-122"/>
              </a:rPr>
              <a:t>TrEMBL</a:t>
            </a:r>
            <a:r>
              <a:rPr lang="en-US" altLang="zh-CN" sz="2600" dirty="0" smtClean="0">
                <a:ea typeface="宋体" pitchFamily="2" charset="-122"/>
              </a:rPr>
              <a:t>, and PIR. </a:t>
            </a:r>
          </a:p>
          <a:p>
            <a:r>
              <a:rPr lang="en-US" altLang="zh-CN" sz="3200" dirty="0" smtClean="0">
                <a:ea typeface="宋体" pitchFamily="2" charset="-122"/>
              </a:rPr>
              <a:t>Data in </a:t>
            </a:r>
            <a:r>
              <a:rPr lang="en-US" altLang="zh-CN" sz="3200" dirty="0" err="1" smtClean="0">
                <a:ea typeface="宋体" pitchFamily="2" charset="-122"/>
              </a:rPr>
              <a:t>UniProt</a:t>
            </a:r>
            <a:r>
              <a:rPr lang="en-US" altLang="zh-CN" sz="3200" dirty="0" smtClean="0">
                <a:ea typeface="宋体" pitchFamily="2" charset="-122"/>
              </a:rPr>
              <a:t> is primarily derived from coding sequence annotations in EMBL (</a:t>
            </a:r>
            <a:r>
              <a:rPr lang="en-US" altLang="zh-CN" sz="3200" dirty="0" err="1" smtClean="0">
                <a:ea typeface="宋体" pitchFamily="2" charset="-122"/>
              </a:rPr>
              <a:t>GenBank</a:t>
            </a:r>
            <a:r>
              <a:rPr lang="en-US" altLang="zh-CN" sz="3200" dirty="0" smtClean="0">
                <a:ea typeface="宋体" pitchFamily="2" charset="-122"/>
              </a:rPr>
              <a:t>/DDBJ) nucleic acid sequence data.</a:t>
            </a:r>
          </a:p>
          <a:p>
            <a:r>
              <a:rPr lang="en-US" altLang="zh-CN" sz="3200" dirty="0" err="1" smtClean="0">
                <a:ea typeface="宋体" pitchFamily="2" charset="-122"/>
              </a:rPr>
              <a:t>UniProt</a:t>
            </a:r>
            <a:r>
              <a:rPr lang="en-US" altLang="zh-CN" sz="3200" dirty="0" smtClean="0">
                <a:ea typeface="宋体" pitchFamily="2" charset="-122"/>
              </a:rPr>
              <a:t> is a Flat-File database just like EMBL and </a:t>
            </a:r>
            <a:r>
              <a:rPr lang="en-US" altLang="zh-CN" sz="3200" dirty="0" err="1" smtClean="0">
                <a:ea typeface="宋体" pitchFamily="2" charset="-122"/>
              </a:rPr>
              <a:t>GenBank</a:t>
            </a:r>
            <a:endParaRPr lang="en-US" altLang="zh-CN" sz="3200" dirty="0" smtClean="0">
              <a:ea typeface="宋体" pitchFamily="2" charset="-122"/>
            </a:endParaRPr>
          </a:p>
          <a:p>
            <a:pPr lvl="1"/>
            <a:endParaRPr lang="en-US" altLang="zh-CN" dirty="0" smtClean="0">
              <a:ea typeface="宋体" pitchFamily="2" charset="-122"/>
            </a:endParaRPr>
          </a:p>
          <a:p>
            <a:pPr lvl="1"/>
            <a:endParaRPr lang="en-IN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20555" y="296516"/>
            <a:ext cx="8143933" cy="828228"/>
          </a:xfrm>
        </p:spPr>
        <p:txBody>
          <a:bodyPr/>
          <a:lstStyle/>
          <a:p>
            <a:r>
              <a:rPr lang="en-US" sz="4400" dirty="0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Protein Sequence Repositories</a:t>
            </a:r>
            <a:endParaRPr lang="en-IN" sz="4400" dirty="0" smtClean="0">
              <a:solidFill>
                <a:schemeClr val="bg1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Further Reading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Concepts, Historical Milestones and the Central Place of Bioinformatics in Modern Biology: A European Perspective </a:t>
            </a:r>
          </a:p>
          <a:p>
            <a:endParaRPr lang="en-IN" dirty="0" smtClean="0"/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sz="5400" dirty="0" smtClean="0"/>
              <a:t>Assignment</a:t>
            </a:r>
            <a:endParaRPr lang="en-IN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5075" y="1584325"/>
            <a:ext cx="7551738" cy="5085035"/>
          </a:xfrm>
        </p:spPr>
        <p:txBody>
          <a:bodyPr/>
          <a:lstStyle/>
          <a:p>
            <a:r>
              <a:rPr lang="en-AU" sz="3200" dirty="0" smtClean="0"/>
              <a:t>Pl. find out Genomic resources at EBI beside </a:t>
            </a:r>
            <a:r>
              <a:rPr lang="en-AU" sz="3200" dirty="0" err="1" smtClean="0"/>
              <a:t>Ensembl</a:t>
            </a:r>
            <a:r>
              <a:rPr lang="en-AU" sz="3200" dirty="0" smtClean="0"/>
              <a:t> and </a:t>
            </a:r>
            <a:r>
              <a:rPr lang="en-AU" sz="3200" dirty="0" err="1" smtClean="0"/>
              <a:t>Ensembl</a:t>
            </a:r>
            <a:r>
              <a:rPr lang="en-AU" sz="3200" dirty="0" smtClean="0"/>
              <a:t> Genomes. </a:t>
            </a:r>
          </a:p>
          <a:p>
            <a:pPr lvl="1"/>
            <a:r>
              <a:rPr lang="en-AU" sz="2800" dirty="0" smtClean="0"/>
              <a:t>Prepare a short report (max. 1000 words)</a:t>
            </a:r>
          </a:p>
          <a:p>
            <a:pPr lvl="7">
              <a:buNone/>
            </a:pPr>
            <a:r>
              <a:rPr lang="en-AU" sz="4000" dirty="0" smtClean="0"/>
              <a:t>OR</a:t>
            </a:r>
          </a:p>
          <a:p>
            <a:pPr marL="341313" lvl="7" indent="-341313">
              <a:buChar char="•"/>
            </a:pPr>
            <a:r>
              <a:rPr lang="en-AU" sz="3200" dirty="0" smtClean="0">
                <a:ea typeface="+mn-ea"/>
                <a:cs typeface="+mn-cs"/>
              </a:rPr>
              <a:t>Pl. read “Integrating biological databases” by Lincoln D. Stein</a:t>
            </a:r>
          </a:p>
          <a:p>
            <a:pPr lvl="1"/>
            <a:r>
              <a:rPr lang="en-AU" sz="2800" dirty="0" smtClean="0"/>
              <a:t>Prepare a short report (max 1000 words)</a:t>
            </a:r>
          </a:p>
          <a:p>
            <a:pPr marL="753707" lvl="8" indent="-341313">
              <a:buChar char="•"/>
            </a:pPr>
            <a:endParaRPr lang="en-IN" sz="3200" dirty="0" smtClean="0"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NA structure design template">
  <a:themeElements>
    <a:clrScheme name="">
      <a:dk1>
        <a:srgbClr val="000000"/>
      </a:dk1>
      <a:lt1>
        <a:srgbClr val="C0C0C0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DCDCDC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DNA structure design template</Template>
  <TotalTime>1577</TotalTime>
  <Words>1038</Words>
  <Application>Microsoft Office PowerPoint</Application>
  <PresentationFormat>On-screen Show (4:3)</PresentationFormat>
  <Paragraphs>287</Paragraphs>
  <Slides>23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宋体</vt:lpstr>
      <vt:lpstr>Arial</vt:lpstr>
      <vt:lpstr>Calibri</vt:lpstr>
      <vt:lpstr>Comic Sans MS</vt:lpstr>
      <vt:lpstr>Copperplate Gothic Bold</vt:lpstr>
      <vt:lpstr>Courier New</vt:lpstr>
      <vt:lpstr>ＭＳ Ｐゴシック</vt:lpstr>
      <vt:lpstr>Tahoma</vt:lpstr>
      <vt:lpstr>Times New Roman</vt:lpstr>
      <vt:lpstr>DNA structure design template</vt:lpstr>
      <vt:lpstr>A historical perspective</vt:lpstr>
      <vt:lpstr>Comparison</vt:lpstr>
      <vt:lpstr>Mother of Bioinformatics</vt:lpstr>
      <vt:lpstr>Milestones-I</vt:lpstr>
      <vt:lpstr>Milestones-II</vt:lpstr>
      <vt:lpstr>Resource Centres</vt:lpstr>
      <vt:lpstr> </vt:lpstr>
      <vt:lpstr>PowerPoint Presentation</vt:lpstr>
      <vt:lpstr>What are databases?</vt:lpstr>
      <vt:lpstr>Database illustration</vt:lpstr>
      <vt:lpstr>Databases: an simple example</vt:lpstr>
      <vt:lpstr>Biological Databases</vt:lpstr>
      <vt:lpstr>Nucleic Acids Research Database issue</vt:lpstr>
      <vt:lpstr>Primary VS Derivative Databases</vt:lpstr>
      <vt:lpstr>PowerPoint Presentation</vt:lpstr>
      <vt:lpstr>GenBank – Primary Sequence DB</vt:lpstr>
      <vt:lpstr>GenBank file format</vt:lpstr>
      <vt:lpstr>Collaborating  Databases</vt:lpstr>
      <vt:lpstr>Ensemble and Ensemble Genomes</vt:lpstr>
      <vt:lpstr>Protein Sequence Repositories</vt:lpstr>
      <vt:lpstr>Protein Sequence Repositories</vt:lpstr>
      <vt:lpstr>Further Reading</vt:lpstr>
      <vt:lpstr>Assignment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LS 409 Bioinformatics</dc:title>
  <dc:creator>Varun</dc:creator>
  <cp:lastModifiedBy>Varun</cp:lastModifiedBy>
  <cp:revision>93</cp:revision>
  <dcterms:created xsi:type="dcterms:W3CDTF">2013-07-25T13:34:31Z</dcterms:created>
  <dcterms:modified xsi:type="dcterms:W3CDTF">2016-01-07T02:57:33Z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TC102862081033</vt:lpwstr>
  </property>
</Properties>
</file>